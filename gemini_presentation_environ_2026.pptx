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name is Avinash Nagarajan, representing the CIRCUS Interreg North-West Europe project at Munster Technological University. Today, I am excited to demonstrate a novel open-source tool that estimates the energy performance of residential buildings across eight European countries in under 30 seconds—using only a postal address. I will walk you through the AI pipeline powering this tool and discuss how it addresses the critical challenge of decarbonising our housing stock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set the scene: buildings are responsible for roughly forty percent of all energy consumption in the EU. If we are to meet our 2050 climate targets, mass retrofitting is non-negotiable. The primary tool we have to guide this is the Energy Performance Certificate. The problem is scalability. Generating an official EPC requires a qualified assessor to physically visit the property, which costs hundreds of euros per house. For a community energy organisation trying to prioritise which homes in a village need the most urgent help, this cost is prohibitive.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solution lies in combining ubiquitous geospatial data with breakthroughs in AI. Every address in North-West Europe is visible via high-resolution satellite imagery, and Google Street View provides a comprehensive exterior survey. By passing these images to a multimodal AI like Claude 3.5 Sonnet, we can automate the visual inspection phase. We then feed those parameters into a established thermal calculation engine based on the Austrian HWB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Let’s look under the hood. Phase 1 geocodes the address. Phase 2 fetches imagery. Crucially, we fetch four Street View images at 90-degree intervals, giving us a 360-degree exterior survey. In Phase 3, the AI analyses these images. Phase 4 extracts dimensions from the satellite view. Finally, Phase 5 runs the thermal physics calculation to determine energy demand and CO2 emissions.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powerful aspect is multi-angle cross-referencing. By sending all four images to Claude simultaneously, the model acts like a human surveyor walking around the property. It might spot an oil tank at the back or a heat pump on the side. We implemented Confidence Gating: if the building is obscured and the AI confidence is below 0.4, we fallback to conservative defaults to avoid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Extracting building dimensions from satellite images is difficult. We use a dual-method approach. Our primary engine is Claude Vision, which is context-aware—if it knows a building is part of a terrace, it measures just one unit. As a safety net, we run an independent OpenCV algorithm. If they agree within 30%, we boost confidence. If they disagree, we trust the AI, with OpenCV as a robust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thermal engine uses the Austrian HWB method, based on ISO 13790. It is an annual energy balance: losses through fabric and ventilation minus gains from sun and occupants. We divide this by efficiency to get final energy. Every input is localised: we use specific climate data and national Primary Energy Factors for all eight supported countries.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tool surfaces critical policy insights. The impact of a heat pump depends on the local grid. In France, with low-carbon nuclear, a heat pump cuts emissions by 90%. In Germany, with a higher carbon mix, it cuts emissions by about 50%. For community groups, this means localized strategy is vital: in coal-heavy grids, insulation might be the first priority while the grid decarbonises.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tool is designed to be actionable. Take a typical pre-1980 Irish house on gas. It starts at C2. Add insulation and triple glazing, it jumps to B3. Add a heat pump, it reaches A2—an 86% carbon reduction. Energy officers can show residents the exact pathway required to transform their specific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this is a screening tool, not an official EPC. We are currently validating it against 400,000 official Irish certificates to fine-tune our models. Future steps include implementing the official DEAP method and bulk processing. The code is open source and we are looking for collaboration.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BER Automation: Estimating Building Energy Ratings at Scale Using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Avinash Nagarajan | Munster Technological University</a:t>
            </a:r>
          </a:p>
          <a:p>
            <a:r>
              <a:t>CIRCUS Interreg North-West Europe Programme</a:t>
            </a:r>
          </a:p>
          <a:p>
            <a:r>
              <a:t>Environ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of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Buildings consume 40% of total energy in the EU.</a:t>
            </a:r>
          </a:p>
          <a:p>
            <a:r>
              <a:t>• Energy Performance Certificates (EPCs / BERs) are essential for targeting retrofits.</a:t>
            </a:r>
          </a:p>
          <a:p>
            <a:r>
              <a:t>• The Bottleneck:</a:t>
            </a:r>
          </a:p>
          <a:p>
            <a:pPr lvl="1"/>
            <a:r>
              <a:t>    - Official EPCs require a 1–3 hour site visit.</a:t>
            </a:r>
          </a:p>
          <a:p>
            <a:pPr lvl="1"/>
            <a:r>
              <a:t>    - Costs range from €150 to €500 per property.</a:t>
            </a:r>
          </a:p>
          <a:p>
            <a:r>
              <a:t>• Impact: Community groups cannot afford to pre-assess entire neighbourhoods.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Automated, AI-Driven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Concept: Automate the physical survey using public data.</a:t>
            </a:r>
          </a:p>
          <a:p>
            <a:r>
              <a:t>• The Ingredients:</a:t>
            </a:r>
          </a:p>
          <a:p>
            <a:pPr lvl="1"/>
            <a:r>
              <a:t>    - Ubiquitous satellite imagery (building footprint).</a:t>
            </a:r>
          </a:p>
          <a:p>
            <a:pPr lvl="1"/>
            <a:r>
              <a:t>    - Google Street View (exterior photographic survey).</a:t>
            </a:r>
          </a:p>
          <a:p>
            <a:pPr lvl="1"/>
            <a:r>
              <a:t>    - Claude 3.5 Sonnet (visual feature extraction).</a:t>
            </a:r>
          </a:p>
          <a:p>
            <a:pPr lvl="1"/>
            <a:r>
              <a:t>    - Proven energy physics (Austrian HWB method).</a:t>
            </a:r>
          </a:p>
          <a:p>
            <a:r>
              <a:t>• Result: Automated pipeline for comprehensive energy profiles.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 1: Geocoding (Address → GPS)</a:t>
            </a:r>
          </a:p>
          <a:p>
            <a:r>
              <a:t>• Phase 2: Imagery (Satellite + 4x Street View Angles)</a:t>
            </a:r>
          </a:p>
          <a:p>
            <a:r>
              <a:t>• Phase 3: AI Survey (Claude 3.5 Cross-Referencing)</a:t>
            </a:r>
          </a:p>
          <a:p>
            <a:r>
              <a:t>• Phase 4: Footprint (AI Primary + OpenCV Fallback)</a:t>
            </a:r>
          </a:p>
          <a:p>
            <a:r>
              <a:t>• Phase 5: Thermal Engine (HWB Annual Balance)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AI Vision &amp; Confidence Gating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Multi-Angle Cross-Referencing: 4 views sent in one request.</a:t>
            </a:r>
          </a:p>
          <a:p>
            <a:r>
              <a:t>• Detects hidden features (heat pumps, oil tanks, party walls).</a:t>
            </a:r>
          </a:p>
          <a:p>
            <a:r>
              <a:t>• Country-Specific Prompts: Adapts to local typologies.</a:t>
            </a:r>
          </a:p>
          <a:p>
            <a:r>
              <a:t>• Confidence Gating: If confidence &lt; 0.4, use safe defaults.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Dual-Method Footprint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Primary: Claude Vision (Context-Aware)</a:t>
            </a:r>
          </a:p>
          <a:p>
            <a:pPr lvl="1"/>
            <a:r>
              <a:t>    - Receives GPS scale (m/pixel).</a:t>
            </a:r>
          </a:p>
          <a:p>
            <a:pPr lvl="1"/>
            <a:r>
              <a:t>    - Measures single units in terraced rows.</a:t>
            </a:r>
          </a:p>
          <a:p>
            <a:r>
              <a:t>• Secondary: OpenCV (Algorithmic)</a:t>
            </a:r>
          </a:p>
          <a:p>
            <a:pPr lvl="1"/>
            <a:r>
              <a:t>    - Canny edge detection + contour scoring.</a:t>
            </a:r>
          </a:p>
          <a:p>
            <a:r>
              <a:t>• Reconciliation: Both must agree within 30% for high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Thermal Calculation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Method: HWB (Heizwärmebedarf) annual balance.</a:t>
            </a:r>
          </a:p>
          <a:p>
            <a:r>
              <a:t>• Equation: (Losses: Trans. + Vent.) – (Gains: Solar + Int.)</a:t>
            </a:r>
          </a:p>
          <a:p>
            <a:r>
              <a:t>• Localised Data:</a:t>
            </a:r>
          </a:p>
          <a:p>
            <a:pPr lvl="1"/>
            <a:r>
              <a:t>    - Heating Degree Days (winter severity).</a:t>
            </a:r>
          </a:p>
          <a:p>
            <a:pPr lvl="1"/>
            <a:r>
              <a:t>    - Solar irradiance by orientation.</a:t>
            </a:r>
          </a:p>
          <a:p>
            <a:pPr lvl="1"/>
            <a:r>
              <a:t>    - National Primary Energy Factors (PEF).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Cross-Border Policy Insights: Grid CO2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Grid CO2 Intensity (g/kWh): CH: 29 | FR: 52 | IE: 210 | DE: 385</a:t>
            </a:r>
          </a:p>
          <a:p>
            <a:r>
              <a:t>• Heat Pump CO2 Reduction vs. Gas Boiler:</a:t>
            </a:r>
          </a:p>
          <a:p>
            <a:pPr lvl="1"/>
            <a:r>
              <a:t>    - France: ~89% reduction</a:t>
            </a:r>
          </a:p>
          <a:p>
            <a:pPr lvl="1"/>
            <a:r>
              <a:t>    - Germany: ~49% reduction</a:t>
            </a:r>
          </a:p>
          <a:p>
            <a:r>
              <a:t>• Takeaway: Retrofit strategy must follow grid decarbonisation.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Retrofit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Example: Pre-1980 Detached House (Ireland)</a:t>
            </a:r>
          </a:p>
          <a:p>
            <a:pPr lvl="1"/>
            <a:r>
              <a:t>    - Baseline: C2 (177 kWh/m²/yr)</a:t>
            </a:r>
          </a:p>
          <a:p>
            <a:pPr lvl="1"/>
            <a:r>
              <a:t>    - Step 1: Insulation + Triple Glazing → B3</a:t>
            </a:r>
          </a:p>
          <a:p>
            <a:pPr lvl="1"/>
            <a:r>
              <a:t>    - Step 2: Switch to Heat Pump → A2</a:t>
            </a:r>
          </a:p>
          <a:p>
            <a:r>
              <a:t>• Result: 86% total CO2 reduction.</a:t>
            </a:r>
          </a:p>
          <a:p>
            <a:r>
              <a:t>• Utility: Shows residents a tangible path to an A-rating.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Accuracy: ±1–2 bands (with good Street View).</a:t>
            </a:r>
          </a:p>
          <a:p>
            <a:r>
              <a:t>• Validation: Cross-referencing 400,000 SEAI certificates.</a:t>
            </a:r>
          </a:p>
          <a:p>
            <a:r>
              <a:t>• Roadmap:</a:t>
            </a:r>
          </a:p>
          <a:p>
            <a:pPr lvl="1"/>
            <a:r>
              <a:t>    - Irish DEAP methodology implementation.</a:t>
            </a:r>
          </a:p>
          <a:p>
            <a:pPr lvl="1"/>
            <a:r>
              <a:t>    - Batch processing for estate-level uploads.</a:t>
            </a:r>
          </a:p>
          <a:p>
            <a:r>
              <a:t>• Open Source: Collaborate with CIRCUS &amp; MTU.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