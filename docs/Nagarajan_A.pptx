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25977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BER Automation:</a:t>
            </a:r>
          </a:p>
          <a:p>
            <a:pPr algn="l">
              <a:spcBef>
                <a:spcPts val="1000"/>
              </a:spcBef>
            </a:pPr>
            <a:r>
              <a:rPr sz="3200" b="1" i="0">
                <a:solidFill>
                  <a:srgbClr val="A8C8E8"/>
                </a:solidFill>
              </a:rPr>
              <a:t>Estimating Building Energy Ratings
at Scale Using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11880"/>
            <a:ext cx="50292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825977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2200" b="1" i="0" dirty="0">
                <a:solidFill>
                  <a:srgbClr val="FFFFFF"/>
                </a:solidFill>
              </a:rPr>
              <a:t>Environ 2026</a:t>
            </a:r>
          </a:p>
          <a:p>
            <a:pPr algn="l">
              <a:spcBef>
                <a:spcPts val="400"/>
              </a:spcBef>
            </a:pPr>
            <a:r>
              <a:rPr lang="en-GB" sz="1600" b="0" i="0" dirty="0">
                <a:solidFill>
                  <a:srgbClr val="A8C8E8"/>
                </a:solidFill>
              </a:rPr>
              <a:t>Dr. </a:t>
            </a:r>
            <a:r>
              <a:rPr sz="1600" b="0" i="0" dirty="0">
                <a:solidFill>
                  <a:srgbClr val="A8C8E8"/>
                </a:solidFill>
              </a:rPr>
              <a:t>Avinash Nagarajan  ·  Munster Technological University</a:t>
            </a:r>
          </a:p>
          <a:p>
            <a:pPr algn="l">
              <a:spcBef>
                <a:spcPts val="400"/>
              </a:spcBef>
            </a:pPr>
            <a:r>
              <a:rPr sz="1500" b="0" i="0" dirty="0">
                <a:solidFill>
                  <a:srgbClr val="A8C8E8"/>
                </a:solidFill>
              </a:rPr>
              <a:t>CIRCUS — Connecting Initiatives for Rural Communities,</a:t>
            </a:r>
          </a:p>
          <a:p>
            <a:pPr algn="l">
              <a:spcBef>
                <a:spcPts val="400"/>
              </a:spcBef>
            </a:pPr>
            <a:r>
              <a:rPr sz="1500" b="0" i="0" dirty="0">
                <a:solidFill>
                  <a:srgbClr val="A8C8E8"/>
                </a:solidFill>
              </a:rPr>
              <a:t>Upscaling their Sustainable Energy  ·  Interreg NWE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921300-5572-8FE5-075D-A77490825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5224580"/>
            <a:ext cx="2657145" cy="1232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144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0" i="0">
                <a:solidFill>
                  <a:srgbClr val="1A1A2E"/>
                </a:solidFill>
              </a:rPr>
              <a:t>•  Buildings account for 40% of total energy consumption in the EU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The largest single source of CO₂ in most North-West European countries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A1A2E"/>
                </a:solidFill>
              </a:rPr>
              <a:t>•  Energy Performance Certificates (EPCs) are the primary tool for communicating a building's energy status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BER (Ireland) · DPE (France) · Energieausweis (Germany/Austria) · Energielabel (Netherlands)…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A1A2E"/>
                </a:solidFill>
              </a:rPr>
              <a:t>•  Commissioning an official EPC requires: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A qualified assessor visiting the property for 1–3 hours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Specialist certification software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€150–€500 per property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A1A2E"/>
                </a:solidFill>
              </a:rPr>
              <a:t>•  This creates a major barrier for: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Community energy organisations prioritising retrofit across hundreds of homes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Local authorities conducting large-scale housing stock assessments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555555"/>
                </a:solidFill>
              </a:rPr>
              <a:t>   –  CIRCUS Interreg NWE partners comparing energy performance across 8 countries</a:t>
            </a:r>
          </a:p>
        </p:txBody>
      </p:sp>
      <p:pic>
        <p:nvPicPr>
          <p:cNvPr id="7" name="Picture 6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144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100" b="0" i="0">
                <a:solidFill>
                  <a:srgbClr val="1A1A2E"/>
                </a:solidFill>
              </a:rPr>
              <a:t>•  Satellite imagery covers virtually every residential address in NWE — at ~9 cm/pixel resolution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1A1A2E"/>
                </a:solidFill>
              </a:rPr>
              <a:t>•  Google Street View provides photographic exterior surveys of most properties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1A1A2E"/>
                </a:solidFill>
              </a:rPr>
              <a:t>•  AI vision models can classify building features from photographs with remarkable reliability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1A1A2E"/>
                </a:solidFill>
              </a:rPr>
              <a:t>•  The energy physics is well-established — the HWB calculation method has been used by practitioners for decades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1A1A2E"/>
                </a:solidFill>
              </a:rPr>
              <a:t>•  All the inputs needed for an energy rating exist in publicly accessible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→  Can we automate the entire workflow — from postal address to BER rating — using only publicly available data and AI vision?</a:t>
            </a:r>
          </a:p>
        </p:txBody>
      </p:sp>
      <p:pic>
        <p:nvPicPr>
          <p:cNvPr id="8" name="Picture 7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Tool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6949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3A6B"/>
                </a:solidFill>
              </a:rPr>
              <a:t>Input:</a:t>
            </a:r>
          </a:p>
          <a:p>
            <a:pPr>
              <a:spcBef>
                <a:spcPts val="400"/>
              </a:spcBef>
            </a:pPr>
            <a:r>
              <a:rPr sz="1800" b="0" i="0">
                <a:solidFill>
                  <a:srgbClr val="1A1A2E"/>
                </a:solidFill>
              </a:rPr>
              <a:t>•  A postal code or street address  +  country selection</a:t>
            </a:r>
          </a:p>
          <a:p>
            <a:pPr>
              <a:spcBef>
                <a:spcPts val="400"/>
              </a:spcBef>
            </a:pPr>
            <a:r>
              <a:rPr sz="1800" b="0" i="0">
                <a:solidFill>
                  <a:srgbClr val="1A1A2E"/>
                </a:solidFill>
              </a:rPr>
              <a:t>•  Nothing else.</a:t>
            </a:r>
          </a:p>
          <a:p>
            <a:pPr>
              <a:spcBef>
                <a:spcPts val="1600"/>
              </a:spcBef>
            </a:pPr>
            <a:r>
              <a:rPr sz="2000" b="1" i="0">
                <a:solidFill>
                  <a:srgbClr val="1B3A6B"/>
                </a:solidFill>
              </a:rPr>
              <a:t>Output in under 30 seconds: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BER band (Irish A1–G as cross-border reference scale)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Native country EPC band (DPE / Energieausweis / Energielabel / GEAK…)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Primary energy: kWh/m²/year  ·  CO₂ emissions: kg/year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Full energy breakdown: transmission, ventilation, solar &amp; internal gains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Building characteristics: dimensions, floor area, type, era, heating system</a:t>
            </a: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1A1A2E"/>
                </a:solidFill>
              </a:rPr>
              <a:t>•  Retrofit comparison: rating after insulation + heating system upgrade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097280"/>
            <a:ext cx="4297680" cy="521208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3A6B"/>
                </a:solidFill>
              </a:rPr>
              <a:t>8 Supported Countries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IE  Ireland (BER A1–G)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FR  France (DPE A–G)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DE  Germany (Energieausweis A+–H)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BE  Belgium (EPC A+–F)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NL  Netherlands (Energielabel A++++–G)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LU  Luxembourg (Energiepass A+–G)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CH  Switzerland (GEAK A–G)</a:t>
            </a:r>
          </a:p>
          <a:p>
            <a:pPr algn="l"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•  AT  Austria (Energieausweis A++–G+)</a:t>
            </a:r>
          </a:p>
        </p:txBody>
      </p:sp>
      <p:pic>
        <p:nvPicPr>
          <p:cNvPr id="9" name="Picture 8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Automated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434" y="1234440"/>
            <a:ext cx="2084831" cy="15727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2874" y="1325880"/>
            <a:ext cx="190195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  GEOCODING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A8C8E8"/>
                </a:solidFill>
              </a:rPr>
              <a:t>Address → GPS
(Google Geocoding 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6265" y="1984248"/>
            <a:ext cx="201168" cy="5029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67433" y="1234440"/>
            <a:ext cx="2084831" cy="157276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8873" y="1325880"/>
            <a:ext cx="190195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  IMAGE
    FETCHING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A8C8E8"/>
                </a:solidFill>
              </a:rPr>
              <a:t>Satellite (zoom 20)
+ 4× Street View
0°/90°/180°/270°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2264" y="1984248"/>
            <a:ext cx="201168" cy="5029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53432" y="1234440"/>
            <a:ext cx="2084831" cy="1572768"/>
          </a:xfrm>
          <a:prstGeom prst="rect">
            <a:avLst/>
          </a:prstGeom>
          <a:solidFill>
            <a:srgbClr val="2E6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4872" y="1325880"/>
            <a:ext cx="190195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  AI BUILDING
    ANALYSIS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A8C8E8"/>
                </a:solidFill>
              </a:rPr>
              <a:t>Claude Vision →
type, era, storeys,
heating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8263" y="1984248"/>
            <a:ext cx="201168" cy="5029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39431" y="1234440"/>
            <a:ext cx="2084831" cy="1572768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0871" y="1325880"/>
            <a:ext cx="190195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  FOOTPRINT
    EXTRACTION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A8C8E8"/>
                </a:solidFill>
              </a:rPr>
              <a:t>Claude Vision (primary)
+ OpenCV
cross-validation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24262" y="1984248"/>
            <a:ext cx="201168" cy="5029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25430" y="1234440"/>
            <a:ext cx="2084831" cy="1572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6870" y="1325880"/>
            <a:ext cx="190195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  HWB
    CALCULATION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A8C8E8"/>
                </a:solidFill>
              </a:rPr>
              <a:t>Annual energy balance
→ kWh/m²/yr
→ BER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434" y="987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Input: address + country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383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555555"/>
                </a:solidFill>
              </a:rPr>
              <a:t>Output: BER + native EPC + CO₂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141445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0" i="0" dirty="0">
                <a:solidFill>
                  <a:srgbClr val="1A1A2E"/>
                </a:solidFill>
              </a:rPr>
              <a:t>•  </a:t>
            </a:r>
            <a:r>
              <a:rPr lang="en-GB" sz="1700" b="0" i="0" dirty="0">
                <a:solidFill>
                  <a:srgbClr val="1A1A2E"/>
                </a:solidFill>
              </a:rPr>
              <a:t>Initial starting point before site visit</a:t>
            </a:r>
            <a:r>
              <a:rPr sz="1700" b="0" i="0" dirty="0">
                <a:solidFill>
                  <a:srgbClr val="1A1A2E"/>
                </a:solidFill>
              </a:rPr>
              <a:t>.  Near-zero marginal cost per assessment.</a:t>
            </a:r>
          </a:p>
          <a:p>
            <a:pPr>
              <a:spcBef>
                <a:spcPts val="600"/>
              </a:spcBef>
            </a:pPr>
            <a:r>
              <a:rPr sz="1700" b="0" i="0" dirty="0">
                <a:solidFill>
                  <a:srgbClr val="1A1A2E"/>
                </a:solidFill>
              </a:rPr>
              <a:t>•  Confidence gating: if AI confidence &lt; 0.4 the tool uses safe defaults — it never propagates a low-quality guess</a:t>
            </a:r>
          </a:p>
          <a:p>
            <a:pPr>
              <a:spcBef>
                <a:spcPts val="600"/>
              </a:spcBef>
            </a:pPr>
            <a:r>
              <a:rPr sz="1700" b="0" i="0" dirty="0">
                <a:solidFill>
                  <a:srgbClr val="1A1A2E"/>
                </a:solidFill>
              </a:rPr>
              <a:t>•  Graceful degradation at every phase: each step has a fallback so one failure does not crash the pipeline</a:t>
            </a:r>
          </a:p>
        </p:txBody>
      </p:sp>
      <p:pic>
        <p:nvPicPr>
          <p:cNvPr id="23" name="Picture 22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Building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217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Model: Claude Sonnet (Anthropic) — multimodal vision + language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All 4 street view images sent in one request — model cross-references all angles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Features visible from only one angle are captured: oil tanks, heat pump units, party walls, flues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Country-specific architectural knowledge embedded in prompts: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Ireland / France: look for external oil tanks in rural areas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Luxembourg / Netherlands: district heating dominant in urban areas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Germany: heavy external insulation render common post-1980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Switzerland: triple glazing + heat pumps more common post-2010 (Minergie)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097280"/>
          <a:ext cx="5379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Building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Detached / Semi-D / Terraced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Construction era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Before 1980 → After 2010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Storeys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1 / 2 / 3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Heating system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Oil, gas, heat pump, biomass, district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0.0 –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</a:rPr>
                        <a:t>Reasoning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</a:rPr>
                        <a:t>Plain-language explanation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07492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B3A6B"/>
                </a:solidFill>
              </a:rPr>
              <a:t>Confidence gating: </a:t>
            </a:r>
            <a:r>
              <a:rPr sz="1700" b="0" i="0">
                <a:solidFill>
                  <a:srgbClr val="1A1A2E"/>
                </a:solidFill>
              </a:rPr>
              <a:t>if confidence &lt; 0.4 (building obscured or no Street View coverage), the tool applies safe defaults and shows the user a clear warning. It does not propagate an uncertain AI guess into the energy calculation.</a:t>
            </a:r>
          </a:p>
        </p:txBody>
      </p:sp>
      <p:pic>
        <p:nvPicPr>
          <p:cNvPr id="9" name="Picture 8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Energy Calculation (HWB Method)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217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HWB (Heizwärmebedarf) annual heating balance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ISO 13790 steady-state basis — same standard used by professional EPC tools across Europe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Ported cell-by-cell from MTU Excel tool (Benjamin Kaiser, January 2025)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Every country-specific input sourced from authoritative data: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Heating Degree Days — degreedays.net 2022 data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Solar irradiance — PHPP climate database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Primary Energy Factor — each country's national EPBD transposition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555555"/>
                </a:solidFill>
              </a:rPr>
              <a:t>   –  Grid CO₂ intensity — national grid operators (SEAI, RTE, UBA, ELIA, RVO…)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97280"/>
            <a:ext cx="5349240" cy="475488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887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Annual energy balance:</a:t>
            </a:r>
          </a:p>
          <a:p>
            <a:pPr algn="l"/>
            <a:endParaRPr sz="1600" b="1" i="0">
              <a:solidFill>
                <a:srgbClr val="1B3A6B"/>
              </a:solidFill>
            </a:endParaRPr>
          </a:p>
          <a:p>
            <a:pPr algn="l"/>
            <a:r>
              <a:rPr sz="1300" b="0" i="0">
                <a:solidFill>
                  <a:srgbClr val="1A1A2E"/>
                </a:solidFill>
              </a:rPr>
              <a:t>Q_heating  =  Transmission losses (fabric)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          +  Ventilation losses (air exchange)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          −  Solar gains (passive solar through windows)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          −  Internal gains (occupants + appliances)</a:t>
            </a:r>
          </a:p>
          <a:p>
            <a:pPr algn="l"/>
            <a:endParaRPr sz="1300" b="0" i="0">
              <a:solidFill>
                <a:srgbClr val="1A1A2E"/>
              </a:solidFill>
            </a:endParaRPr>
          </a:p>
          <a:p>
            <a:pPr algn="l"/>
            <a:r>
              <a:rPr sz="1300" b="0" i="0">
                <a:solidFill>
                  <a:srgbClr val="1A1A2E"/>
                </a:solidFill>
              </a:rPr>
              <a:t>Final energy  =  Q_heating  ÷  System efficiency</a:t>
            </a:r>
          </a:p>
          <a:p>
            <a:pPr algn="l"/>
            <a:r>
              <a:rPr sz="1200" b="1" i="0">
                <a:solidFill>
                  <a:srgbClr val="555555"/>
                </a:solidFill>
              </a:rPr>
              <a:t>  (SCOP for heat pumps — can exceed 1.0)</a:t>
            </a:r>
          </a:p>
          <a:p>
            <a:pPr algn="l"/>
            <a:endParaRPr sz="1200" b="1" i="0">
              <a:solidFill>
                <a:srgbClr val="555555"/>
              </a:solidFill>
            </a:endParaRPr>
          </a:p>
          <a:p>
            <a:pPr algn="l"/>
            <a:r>
              <a:rPr sz="1300" b="0" i="0">
                <a:solidFill>
                  <a:srgbClr val="1A1A2E"/>
                </a:solidFill>
              </a:rPr>
              <a:t>Primary energy  =  Final energy  ×  PEF  (country-specific)</a:t>
            </a:r>
          </a:p>
          <a:p>
            <a:pPr algn="l"/>
            <a:endParaRPr sz="1300" b="0" i="0">
              <a:solidFill>
                <a:srgbClr val="1A1A2E"/>
              </a:solidFill>
            </a:endParaRPr>
          </a:p>
          <a:p>
            <a:pPr algn="l"/>
            <a:r>
              <a:rPr sz="1300" b="0" i="0">
                <a:solidFill>
                  <a:srgbClr val="1A1A2E"/>
                </a:solidFill>
              </a:rPr>
              <a:t>CO₂  =  Final energy  ×  Grid emission factor</a:t>
            </a:r>
          </a:p>
          <a:p>
            <a:pPr algn="l"/>
            <a:endParaRPr sz="1300" b="0" i="0">
              <a:solidFill>
                <a:srgbClr val="1A1A2E"/>
              </a:solidFill>
            </a:endParaRPr>
          </a:p>
          <a:p>
            <a:pPr algn="l"/>
            <a:r>
              <a:rPr sz="1400" b="1" i="0">
                <a:solidFill>
                  <a:srgbClr val="1B3A6B"/>
                </a:solidFill>
              </a:rPr>
              <a:t>BER band  =  lookup( primary energy / floor area )</a:t>
            </a:r>
          </a:p>
        </p:txBody>
      </p:sp>
      <p:pic>
        <p:nvPicPr>
          <p:cNvPr id="9" name="Picture 8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CO₂ Across Countries: A Policy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8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6675120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Grid CO₂ (g/kWh)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Heat pump CO₂ reduction vs gas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Switzerland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~93%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France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~89%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Belgium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~73%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Luxembourg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Ireland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~64%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Germany</a:t>
                      </a:r>
                    </a:p>
                  </a:txBody>
                  <a:tcPr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385</a:t>
                      </a:r>
                    </a:p>
                  </a:txBody>
                  <a:tcPr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~49%</a:t>
                      </a:r>
                    </a:p>
                  </a:txBody>
                  <a:tcPr>
                    <a:solidFill>
                      <a:srgbClr val="FFC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1143000"/>
            <a:ext cx="4663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B3A6B"/>
                </a:solidFill>
              </a:rPr>
              <a:t>Same building.  Same heat pump.  Same SCOP of 3.5.</a:t>
            </a:r>
          </a:p>
          <a:p>
            <a:pPr>
              <a:spcBef>
                <a:spcPts val="300"/>
              </a:spcBef>
            </a:pPr>
            <a:endParaRPr sz="1900" b="1" i="0">
              <a:solidFill>
                <a:srgbClr val="1B3A6B"/>
              </a:solidFill>
            </a:endParaRPr>
          </a:p>
          <a:p>
            <a:pPr>
              <a:spcBef>
                <a:spcPts val="300"/>
              </a:spcBef>
            </a:pPr>
            <a:r>
              <a:rPr sz="1700" b="0" i="0">
                <a:solidFill>
                  <a:srgbClr val="1A1A2E"/>
                </a:solidFill>
              </a:rPr>
              <a:t>In France: a heat pump is near-zero-carbon heating today.</a:t>
            </a:r>
          </a:p>
          <a:p>
            <a:pPr>
              <a:spcBef>
                <a:spcPts val="300"/>
              </a:spcBef>
            </a:pPr>
            <a:endParaRPr sz="1700" b="0" i="0">
              <a:solidFill>
                <a:srgbClr val="1A1A2E"/>
              </a:solidFill>
            </a:endParaRPr>
          </a:p>
          <a:p>
            <a:pPr>
              <a:spcBef>
                <a:spcPts val="300"/>
              </a:spcBef>
            </a:pPr>
            <a:r>
              <a:rPr sz="1700" b="0" i="0">
                <a:solidFill>
                  <a:srgbClr val="1A1A2E"/>
                </a:solidFill>
              </a:rPr>
              <a:t>In Germany: a heat pump halves CO₂ but is not yet transformational — grid decarbonisation must follow.</a:t>
            </a:r>
          </a:p>
          <a:p>
            <a:pPr>
              <a:spcBef>
                <a:spcPts val="300"/>
              </a:spcBef>
            </a:pPr>
            <a:endParaRPr sz="1700" b="0" i="0">
              <a:solidFill>
                <a:srgbClr val="1A1A2E"/>
              </a:solidFill>
            </a:endParaRP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B3A6B"/>
                </a:solidFill>
              </a:rPr>
              <a:t>For CIRCUS partners advising communities on retrofit priority, this distinction is critical.</a:t>
            </a:r>
          </a:p>
          <a:p>
            <a:pPr>
              <a:spcBef>
                <a:spcPts val="300"/>
              </a:spcBef>
            </a:pPr>
            <a:endParaRPr sz="1700" b="1" i="0">
              <a:solidFill>
                <a:srgbClr val="1B3A6B"/>
              </a:solidFill>
            </a:endParaRP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555555"/>
                </a:solidFill>
              </a:rPr>
              <a:t>Insulation-first strategies may be more immediately effective in high-carbon-grid countries.</a:t>
            </a:r>
          </a:p>
        </p:txBody>
      </p:sp>
      <p:pic>
        <p:nvPicPr>
          <p:cNvPr id="8" name="Picture 7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Retrofit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55555"/>
                </a:solidFill>
              </a:rPr>
              <a:t>Example: Pre-1980 Irish detached house on gas boiler — a very common typology in rural Ireland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572768"/>
          <a:ext cx="11368735" cy="2310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Primary energy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BER band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CO₂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Baseline (pre-1980, gas boiler)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177.6 kWh/m²/yr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31.3 kg/m²/yr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+ Wall insulation (12 cm)  +  Roof insulation (20 cm)  +  Triple glazing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~130 kWh/m²/yr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~22.9 kg/m²/yr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+ Switch to air-source heat pump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~50 kWh/m²/yr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~4.3 kg/m²/yr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Total improvement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−72%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C2 → A2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−86% CO₂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05072"/>
            <a:ext cx="11414455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Built-in before/after comparison — specify insulation thickness, window U-value, heating system swap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Identifies which homes benefit most from insulation vs heating system change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Makes the retrofit pathway tangible for homeowners and community energy organisations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2E"/>
                </a:solidFill>
              </a:rPr>
              <a:t>•  Directly supports national grant scheme (SEAI / equivalent) conversations</a:t>
            </a:r>
          </a:p>
        </p:txBody>
      </p:sp>
      <p:pic>
        <p:nvPicPr>
          <p:cNvPr id="9" name="Picture 8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313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Accuracy, Limitations &amp; What’s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C8E8"/>
                </a:solidFill>
              </a:rPr>
              <a:t>10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97280"/>
          <a:ext cx="59436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Expected accuracy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Clear building, good Street View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±1–2 BER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Obscured or limited Street View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±2–3 BER bands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No Street View coverage (rural)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±3–4 BER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</a:rPr>
                        <a:t>Apartments / multi-unit blocks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Not recommended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0906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B3A6B"/>
                </a:solidFill>
              </a:rPr>
              <a:t>Screening tool — not a substitute for official EPC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943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0" i="0">
                <a:solidFill>
                  <a:srgbClr val="1A1A2E"/>
                </a:solidFill>
              </a:rPr>
              <a:t>•  U-values from Austrian OIB standards — broadly comparable, not Irish Part L exact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1A1A2E"/>
                </a:solidFill>
              </a:rPr>
              <a:t>•  Electricity CO₂ factors from 2022 — grids are decarbonising rapidly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1A1A2E"/>
                </a:solidFill>
              </a:rPr>
              <a:t>•  Validation vs SEAI BER database (400k+ records) — ongoing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097280"/>
            <a:ext cx="5376672" cy="475488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18872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A6B"/>
                </a:solidFill>
              </a:rPr>
              <a:t>What’s Next</a:t>
            </a:r>
          </a:p>
          <a:p>
            <a:pPr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→  Validation against SEAI BER database</a:t>
            </a:r>
          </a:p>
          <a:p>
            <a:pPr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→  Batch processing for estate-level assessment</a:t>
            </a:r>
          </a:p>
          <a:p>
            <a:pPr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→  Regional climate data (county-level HDD for Ireland)</a:t>
            </a:r>
          </a:p>
          <a:p>
            <a:pPr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→  DEAP method mode (official Irish methodology)</a:t>
            </a:r>
          </a:p>
          <a:p>
            <a:pPr>
              <a:spcBef>
                <a:spcPts val="900"/>
              </a:spcBef>
            </a:pPr>
            <a:r>
              <a:rPr sz="1600" b="0" i="0">
                <a:solidFill>
                  <a:srgbClr val="1A1A2E"/>
                </a:solidFill>
              </a:rPr>
              <a:t>→  PDF BER-style report generation</a:t>
            </a:r>
          </a:p>
          <a:p>
            <a:pPr>
              <a:spcBef>
                <a:spcPts val="1800"/>
              </a:spcBef>
            </a:pPr>
            <a:r>
              <a:rPr sz="1800" b="1" i="0">
                <a:solidFill>
                  <a:srgbClr val="1B3A6B"/>
                </a:solidFill>
              </a:rPr>
              <a:t>Open to collaboration: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2E"/>
                </a:solidFill>
              </a:rPr>
              <a:t>•  CIRCUS Interreg NWE partners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2E"/>
                </a:solidFill>
              </a:rPr>
              <a:t>•  SEAI &amp; local authorities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2E"/>
                </a:solidFill>
              </a:rPr>
              <a:t>•  Environ researchers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4406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A6B"/>
                </a:solidFill>
              </a:rPr>
              <a:t>Thank you  —  Questions welcome</a:t>
            </a:r>
          </a:p>
        </p:txBody>
      </p:sp>
      <p:pic>
        <p:nvPicPr>
          <p:cNvPr id="12" name="Picture 11" descr="circus_logo-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5985856"/>
            <a:ext cx="1645920" cy="762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1496</Words>
  <Application>Microsoft Office PowerPoint</Application>
  <PresentationFormat>Widescreen</PresentationFormat>
  <Paragraphs>208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Nagarajan</cp:lastModifiedBy>
  <cp:revision>4</cp:revision>
  <dcterms:created xsi:type="dcterms:W3CDTF">2013-01-27T09:14:16Z</dcterms:created>
  <dcterms:modified xsi:type="dcterms:W3CDTF">2026-04-23T17:40:05Z</dcterms:modified>
  <cp:category/>
</cp:coreProperties>
</file>