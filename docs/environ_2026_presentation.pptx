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32" y="16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91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Good morning — and thank you for the introduction. My name is Avinash Nagarajan, and I'm presenting work from the CIRCUS Interreg North-West Europe project at Munster Technological University.</a:t>
            </a:r>
          </a:p>
          <a:p>
            <a:r>
              <a:rPr sz="1200"/>
              <a:t>What I want to show you today is a tool that can estimate the energy performance of any residential building across eight European countries — using nothing but a postal address, and delivering results in under thirty seconds. I'll walk you through the problem it addresses, how it works, and what it means in practice for communities trying to decarbonise their housing stock.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Let me set the scene. Buildings are responsible for roughly forty percent of total energy use in the EU — they are the single largest source of CO₂ in most North-West European countries. Improving the energy performance of existing housing stock is central to the EU's 2050 climate targets and, closer to home, to the ambitions of the CIRCUS project.</a:t>
            </a:r>
          </a:p>
          <a:p>
            <a:r>
              <a:rPr sz="1200"/>
              <a:t>The primary tool for this work is the Energy Performance Certificate. These certificates — called a BER in Ireland, a DPE in France, an Energieausweis in Germany and Austria — tell you how energy-efficient a building is and guide retrofit decisions.</a:t>
            </a:r>
          </a:p>
          <a:p>
            <a:r>
              <a:rPr sz="1200"/>
              <a:t>The problem is access. Getting an official EPC means paying a qualified assessor to visit the property, conduct a detailed survey, and process it through certification software. In Ireland that costs between €150 and €500 per house, and takes a specialist the better part of a day. For a community energy organisation trying to prioritise retrofit activities across an entire village or townland — usually with limited budgets and volunteer capacity — this is an enormous barrier. You simply cannot afford to pre-assess hundreds of homes before knowing which ones to target.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But here is where it gets interesting. Satellite imagery now covers virtually every residential address in North-West Europe at a resolution that lets you measure a building's footprint. Google Street View provides near-complete photographic coverage of residential streets — effectively giving you an exterior survey of most properties without ever visiting them. Modern AI vision models can examine those photographs and make reliable inferences about when a building was constructed, what type it is, and what heating system it likely uses. And the energy calculation itself is not new — the HWB annual balance method has been used by practitioners for decades.</a:t>
            </a:r>
          </a:p>
          <a:p>
            <a:r>
              <a:rPr sz="1200"/>
              <a:t>So we had all the ingredients: imagery, AI, and a well-established calculation method. The question was simply whether we could connect them into a fully automated pipeline — from postal code to BER rating, at scale, at near-zero marginal cost.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The answer is yes — and this is what it looks like in practice. You open a browser, type in a postal code or street address, select the country, and click run. That is the entire user interaction required.</a:t>
            </a:r>
          </a:p>
          <a:p>
            <a:r>
              <a:rPr sz="1200"/>
              <a:t>Within about thirty seconds, the tool returns a full building energy profile. You get the BER band on the Irish scale — which we use as a consistent cross-border reference for the CIRCUS programme — alongside the native EPC format that residents in each country would actually recognise on their own national certificate. You get primary energy in kilowatt-hours per square metre per year, annual CO₂ emissions, a breakdown of where energy is being lost, and the building's physical characteristics as estimated by the AI. And you get a retrofit comparison: what would the rating become if you added insulation or switched to a heat pump?</a:t>
            </a:r>
          </a:p>
          <a:p>
            <a:r>
              <a:rPr sz="1200"/>
              <a:t>The tool covers all eight partner countries of the CIRCUS Interreg NWE programme — Ireland, France, Germany, Belgium, the Netherlands, Luxembourg, Switzerland, and Austria. No specialist knowledge is required to operate it. A community energy officer or local authority staff member can run it directly.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Let me walk through the pipeline, because the engineering decisions are worth understanding.</a:t>
            </a:r>
          </a:p>
          <a:p>
            <a:r>
              <a:rPr sz="1200"/>
              <a:t>Phase one is geocoding — the address is converted to GPS coordinates using the Google Geocoding API, with a country filter applied to ensure we stay within the right borders.</a:t>
            </a:r>
          </a:p>
          <a:p>
            <a:r>
              <a:rPr sz="1200"/>
              <a:t>Phase two fetches imagery. A satellite image at zoom level twenty gives us a top-down view of the building at roughly nine centimetres per pixel. For Street View, rather than using a fixed compass direction, the tool queries the Street View metadata API to find where the nearest camera physically was, computes the geodesic bearing from that camera to the building, and then fetches four images at ninety-degree intervals around that bearing. The building is centred in every photograph, and we capture the full exterior — front, right, rear, and left.</a:t>
            </a:r>
          </a:p>
          <a:p>
            <a:r>
              <a:rPr sz="1200"/>
              <a:t>Phase three sends all four images simultaneously to Claude Sonnet, Anthropic's AI vision model, along with a detailed country-specific prompt. Claude returns its assessment of building type, construction era, storeys, heating system, and a confidence score.</a:t>
            </a:r>
          </a:p>
          <a:p>
            <a:r>
              <a:rPr sz="1200"/>
              <a:t>Phase four extracts the building's footprint from the satellite image — also using Claude Vision, with the map scale in metres per pixel injected into the prompt so it can reason in real-world dimensions. An independent OpenCV algorithm runs in parallel as a cross-validation check. If both methods agree within thirty percent, confidence is boosted; if they disagree, the AI result is trusted; if the AI fails entirely, OpenCV acts as fallback.</a:t>
            </a:r>
          </a:p>
          <a:p>
            <a:r>
              <a:rPr sz="1200"/>
              <a:t>Phase five runs the energy calculation — which I will explain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The building analysis phase is where the AI does the heavy lifting, and a few design decisions here are particularly important.</a:t>
            </a:r>
          </a:p>
          <a:p>
            <a:r>
              <a:rPr sz="1200"/>
              <a:t>Sending all four street view images in one request means the model can cross-reference them. An oil tank visible only from the rear, a heat pump unit on the side wall, a shared party wall only apparent from the left — the model picks all of these up when it has a complete exterior survey, rather than making inferences from a single front-facing photograph.</a:t>
            </a:r>
          </a:p>
          <a:p>
            <a:r>
              <a:rPr sz="1200"/>
              <a:t>We have also embedded country-specific architectural knowledge directly into the prompts. The visual signatures of construction eras differ significantly between countries — a 1980s German building with heavy external insulation render looks nothing like a 1980s Irish cavity-wall semi-detached. Rural Irish and French properties are far more likely to have oil storage tanks. District heating is common in Luxembourg and the Netherlands but rare in rural Ireland. This localisation meaningfully improves classification accuracy across all eight countries.</a:t>
            </a:r>
          </a:p>
          <a:p>
            <a:r>
              <a:rPr sz="1200"/>
              <a:t>The confidence gating is a critical safeguard. The model returns a confidence score with every analysis. If that score falls below 0.4 — the building is obscured by vegetation, or there is simply no Street View coverage at that address — the tool does not use the uncertain classification. It applies conservative defaults and displays a clear warning to the user. We would rather give an honest, conservative default than propagate a low-quality AI guess through to the final energy figure.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The energy calculation uses the HWB annual heating balance — Heizwärmebedarf in German, meaning heating energy requirement. This is a steady-state annual method based on ISO 13790, the same standard that underpins professional EPC calculation tools across Europe. It was ported cell by cell from an Excel workbook developed by Benjamin Kaiser at MTU in January 2025.</a:t>
            </a:r>
          </a:p>
          <a:p>
            <a:r>
              <a:rPr sz="1200"/>
              <a:t>The balance is straightforward: heating demand equals transmission losses through the building fabric plus ventilation losses from air exchange, minus usable solar gains through glazing and internal heat from occupants and appliances. That heating demand is divided by the heating system efficiency — or the seasonal coefficient of performance for heat pumps, which can exceed 1.0 because heat pumps extract free environmental energy — to give final energy consumption. Final energy is then multiplied by a country-specific Primary Energy Factor to get primary energy, which determines the EPC band.</a:t>
            </a:r>
          </a:p>
          <a:p>
            <a:r>
              <a:rPr sz="1200"/>
              <a:t>Every country-specific input comes from authoritative sources: heating degree days from degreedays.net, solar irradiance from the Passive House Planning Package climate database, primary energy factors from each country's national EPBD transposition, and grid carbon intensity from national grid operators. The same physical building in different countries produces a genuinely different calculation — not just a different label.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This is the slide I want you to pause on, because I think it carries the most important policy implication of everything I am showing you today.</a:t>
            </a:r>
          </a:p>
          <a:p>
            <a:r>
              <a:rPr sz="1200"/>
              <a:t>We know that heat pumps are central to retrofit strategies across Europe. But what we often miss is that installing a heat pump produces very different CO₂ outcomes depending on where you are — because the carbon intensity of the electricity grid varies enormously between countries.</a:t>
            </a:r>
          </a:p>
          <a:p>
            <a:r>
              <a:rPr sz="1200"/>
              <a:t>Switzerland's grid runs on hydropower and nuclear, producing just twenty-nine grams of CO₂ per kilowatt-hour. France's nuclear-heavy grid sits at fifty-two grams. At the other end, Germany's coal and gas mix emits three hundred and eighty-five grams per kilowatt-hour — more than thirteen times Switzerland's figure.</a:t>
            </a:r>
          </a:p>
          <a:p>
            <a:r>
              <a:rPr sz="1200"/>
              <a:t>What does this mean in practice? Install an air-source heat pump with a seasonal COP of 3.5 in a French home, and you cut CO₂ by roughly eighty-nine percent compared to a gas boiler. The same heat pump in Germany cuts CO₂ by about forty-nine percent — still significant, but not transformational, and only until Germany's grid catches up.</a:t>
            </a:r>
          </a:p>
          <a:p>
            <a:r>
              <a:rPr sz="1200"/>
              <a:t>For CIRCUS partners advising communities on where to focus retrofit resources, this distinction is critical. In France and Switzerland, pushing hard on heat pump uptake makes sense right now. In Germany and the Netherlands, an insulation-first strategy may deliver more immediate CO₂ benefit, with heat pumps becoming progressively more powerful as the grid decarbonises. The tool makes this visible, by country, for every assessment it runs.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The retrofit analysis capability is what makes the tool actionable rather than just descriptive.</a:t>
            </a:r>
          </a:p>
          <a:p>
            <a:r>
              <a:rPr sz="1200"/>
              <a:t>For any building assessed through the pipeline, you can specify a retrofit package — wall and roof insulation thickness, a target window U-value, and whether to switch the heating system — and the tool recalculates the BER side by side with the current rating.</a:t>
            </a:r>
          </a:p>
          <a:p>
            <a:r>
              <a:rPr sz="1200"/>
              <a:t>The example here is a pre-1980 detached Irish house on a gas boiler — one of the most common and most energy-intensive typologies in rural Ireland. Its baseline sits at C2, at 177.6 kilowatt-hours per square metre per year. Add wall and roof insulation plus triple-glazed windows, and it moves to B3 — a twenty-seven percent reduction in CO₂. Add a heat pump on top of that, and it reaches A2 — an eighty-six percent cut in CO₂ compared to the unimproved baseline.</a:t>
            </a:r>
          </a:p>
          <a:p>
            <a:r>
              <a:rPr sz="1200"/>
              <a:t>For a community energy officer running a public meeting, this tool lets them pull up any address, show the estimated current rating, and immediately demonstrate what is achievable with a standard deep retrofit package. It makes the pathway to an A-rated home tangible and evidence-based for homeowners who may never have seen their building's energy profile before. That is a powerful engagement tool.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I want to be transparent about what the tool is and what it is not.</a:t>
            </a:r>
          </a:p>
          <a:p>
            <a:r>
              <a:rPr sz="1200"/>
              <a:t>For a building with good Street View coverage and a clearly visible facade, we expect agreement within one to two BER bands of an official assessment — which is a useful and actionable level of accuracy for screening purposes. That widens to two to three bands for partially obscured buildings, and three to four bands for rural properties with no Street View coverage at all.</a:t>
            </a:r>
          </a:p>
          <a:p>
            <a:r>
              <a:rPr sz="1200"/>
              <a:t>This is intentionally a screening and prioritisation tool. It should not be used as a substitute for an official EPC where one is legally required — property transactions, building regulations compliance, green finance products. For those purposes, a qualified assessor must conduct a formal assessment. But for identifying where the worst-performing homes are in a community, preparing evidence for funding applications, or showing homeowners their retrofit pathway — this is exactly the right level of detail.</a:t>
            </a:r>
          </a:p>
          <a:p>
            <a:r>
              <a:rPr sz="1200"/>
              <a:t>On next steps: we are currently validating the tool against the SEAI BER certificate database, which contains over four hundred thousand rated Irish properties. That will allow us to quantify systematic biases and calibrate confidence across different building typologies. We are also developing batch processing so community organisations can upload a list of addresses and receive assessments in bulk.</a:t>
            </a:r>
          </a:p>
          <a:p>
            <a:r>
              <a:rPr sz="1200"/>
              <a:t>Most importantly, we are actively looking for collaboration — with CIRCUS partners across all eight countries, with SEAI, with local authorities, and with researchers in this room. If any of that connects with your work, I would very much welcome a conversation afterwards.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05840"/>
            <a:ext cx="8259775" cy="2560320"/>
          </a:xfrm>
          <a:prstGeom prst="rect">
            <a:avLst/>
          </a:prstGeom>
          <a:noFill/>
        </p:spPr>
        <p:txBody>
          <a:bodyPr wrap="square">
            <a:spAutoFit/>
          </a:bodyPr>
          <a:lstStyle/>
          <a:p>
            <a:pPr algn="l"/>
            <a:r>
              <a:rPr sz="4400" b="1" i="0">
                <a:solidFill>
                  <a:srgbClr val="FFFFFF"/>
                </a:solidFill>
              </a:rPr>
              <a:t>BER Automation:</a:t>
            </a:r>
          </a:p>
          <a:p>
            <a:pPr algn="l">
              <a:spcBef>
                <a:spcPts val="1000"/>
              </a:spcBef>
            </a:pPr>
            <a:r>
              <a:rPr sz="3200" b="1" i="0">
                <a:solidFill>
                  <a:srgbClr val="A8C8E8"/>
                </a:solidFill>
              </a:rPr>
              <a:t>Estimating Building Energy Ratings
at Scale Using AI</a:t>
            </a:r>
          </a:p>
        </p:txBody>
      </p:sp>
      <p:sp>
        <p:nvSpPr>
          <p:cNvPr id="5" name="Rectangle 4"/>
          <p:cNvSpPr/>
          <p:nvPr/>
        </p:nvSpPr>
        <p:spPr>
          <a:xfrm>
            <a:off x="640080" y="3611880"/>
            <a:ext cx="5029200"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749039"/>
            <a:ext cx="8259775" cy="2286000"/>
          </a:xfrm>
          <a:prstGeom prst="rect">
            <a:avLst/>
          </a:prstGeom>
          <a:noFill/>
        </p:spPr>
        <p:txBody>
          <a:bodyPr wrap="square">
            <a:spAutoFit/>
          </a:bodyPr>
          <a:lstStyle/>
          <a:p>
            <a:pPr algn="l">
              <a:spcBef>
                <a:spcPts val="800"/>
              </a:spcBef>
            </a:pPr>
            <a:r>
              <a:rPr sz="2200" b="1" i="0">
                <a:solidFill>
                  <a:srgbClr val="FFFFFF"/>
                </a:solidFill>
              </a:rPr>
              <a:t>Environ 2026</a:t>
            </a:r>
          </a:p>
          <a:p>
            <a:pPr algn="l">
              <a:spcBef>
                <a:spcPts val="400"/>
              </a:spcBef>
            </a:pPr>
            <a:r>
              <a:rPr sz="1600" b="0" i="0">
                <a:solidFill>
                  <a:srgbClr val="A8C8E8"/>
                </a:solidFill>
              </a:rPr>
              <a:t>Avinash Nagarajan  ·  Munster Technological University</a:t>
            </a:r>
          </a:p>
          <a:p>
            <a:pPr algn="l">
              <a:spcBef>
                <a:spcPts val="400"/>
              </a:spcBef>
            </a:pPr>
            <a:r>
              <a:rPr sz="1500" b="0" i="0">
                <a:solidFill>
                  <a:srgbClr val="A8C8E8"/>
                </a:solidFill>
              </a:rPr>
              <a:t>CIRCUS — Connecting Initiatives for Rural Communities,</a:t>
            </a:r>
          </a:p>
          <a:p>
            <a:pPr algn="l">
              <a:spcBef>
                <a:spcPts val="400"/>
              </a:spcBef>
            </a:pPr>
            <a:r>
              <a:rPr sz="1500" b="0" i="0">
                <a:solidFill>
                  <a:srgbClr val="A8C8E8"/>
                </a:solidFill>
              </a:rPr>
              <a:t>Upscaling their Sustainable Energy  ·  Interreg NWE</a:t>
            </a:r>
          </a:p>
        </p:txBody>
      </p:sp>
      <p:pic>
        <p:nvPicPr>
          <p:cNvPr id="7" name="Picture 6" descr="circus_logo-presentation.png"/>
          <p:cNvPicPr>
            <a:picLocks noChangeAspect="1"/>
          </p:cNvPicPr>
          <p:nvPr/>
        </p:nvPicPr>
        <p:blipFill>
          <a:blip r:embed="rId3"/>
          <a:stretch>
            <a:fillRect/>
          </a:stretch>
        </p:blipFill>
        <p:spPr>
          <a:xfrm>
            <a:off x="8808415" y="5182555"/>
            <a:ext cx="2926080" cy="13554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The Problem</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2 / 10</a:t>
            </a:r>
          </a:p>
        </p:txBody>
      </p:sp>
      <p:sp>
        <p:nvSpPr>
          <p:cNvPr id="6" name="TextBox 5"/>
          <p:cNvSpPr txBox="1"/>
          <p:nvPr/>
        </p:nvSpPr>
        <p:spPr>
          <a:xfrm>
            <a:off x="457200" y="1097280"/>
            <a:ext cx="11414455" cy="4892040"/>
          </a:xfrm>
          <a:prstGeom prst="rect">
            <a:avLst/>
          </a:prstGeom>
          <a:noFill/>
        </p:spPr>
        <p:txBody>
          <a:bodyPr wrap="square">
            <a:spAutoFit/>
          </a:bodyPr>
          <a:lstStyle/>
          <a:p>
            <a:pPr>
              <a:spcBef>
                <a:spcPts val="600"/>
              </a:spcBef>
            </a:pPr>
            <a:r>
              <a:rPr sz="1900" b="0" i="0">
                <a:solidFill>
                  <a:srgbClr val="1A1A2E"/>
                </a:solidFill>
              </a:rPr>
              <a:t>•  Buildings account for 40% of total energy consumption in the EU</a:t>
            </a:r>
          </a:p>
          <a:p>
            <a:pPr>
              <a:spcBef>
                <a:spcPts val="200"/>
              </a:spcBef>
            </a:pPr>
            <a:r>
              <a:rPr sz="1700" b="0" i="0">
                <a:solidFill>
                  <a:srgbClr val="555555"/>
                </a:solidFill>
              </a:rPr>
              <a:t>   –  The largest single source of CO₂ in most North-West European countries</a:t>
            </a:r>
          </a:p>
          <a:p>
            <a:pPr>
              <a:spcBef>
                <a:spcPts val="600"/>
              </a:spcBef>
            </a:pPr>
            <a:r>
              <a:rPr sz="1900" b="0" i="0">
                <a:solidFill>
                  <a:srgbClr val="1A1A2E"/>
                </a:solidFill>
              </a:rPr>
              <a:t>•  Energy Performance Certificates (EPCs) are the primary tool for communicating a building's energy status</a:t>
            </a:r>
          </a:p>
          <a:p>
            <a:pPr>
              <a:spcBef>
                <a:spcPts val="200"/>
              </a:spcBef>
            </a:pPr>
            <a:r>
              <a:rPr sz="1700" b="0" i="0">
                <a:solidFill>
                  <a:srgbClr val="555555"/>
                </a:solidFill>
              </a:rPr>
              <a:t>   –  BER (Ireland) · DPE (France) · Energieausweis (Germany/Austria) · Energielabel (Netherlands)…</a:t>
            </a:r>
          </a:p>
          <a:p>
            <a:pPr>
              <a:spcBef>
                <a:spcPts val="600"/>
              </a:spcBef>
            </a:pPr>
            <a:r>
              <a:rPr sz="1900" b="0" i="0">
                <a:solidFill>
                  <a:srgbClr val="1A1A2E"/>
                </a:solidFill>
              </a:rPr>
              <a:t>•  Commissioning an official EPC requires:</a:t>
            </a:r>
          </a:p>
          <a:p>
            <a:pPr>
              <a:spcBef>
                <a:spcPts val="200"/>
              </a:spcBef>
            </a:pPr>
            <a:r>
              <a:rPr sz="1700" b="0" i="0">
                <a:solidFill>
                  <a:srgbClr val="555555"/>
                </a:solidFill>
              </a:rPr>
              <a:t>   –  A qualified assessor visiting the property for 1–3 hours</a:t>
            </a:r>
          </a:p>
          <a:p>
            <a:pPr>
              <a:spcBef>
                <a:spcPts val="200"/>
              </a:spcBef>
            </a:pPr>
            <a:r>
              <a:rPr sz="1700" b="0" i="0">
                <a:solidFill>
                  <a:srgbClr val="555555"/>
                </a:solidFill>
              </a:rPr>
              <a:t>   –  Specialist certification software</a:t>
            </a:r>
          </a:p>
          <a:p>
            <a:pPr>
              <a:spcBef>
                <a:spcPts val="200"/>
              </a:spcBef>
            </a:pPr>
            <a:r>
              <a:rPr sz="1700" b="0" i="0">
                <a:solidFill>
                  <a:srgbClr val="555555"/>
                </a:solidFill>
              </a:rPr>
              <a:t>   –  €150–€500 per property</a:t>
            </a:r>
          </a:p>
          <a:p>
            <a:pPr>
              <a:spcBef>
                <a:spcPts val="600"/>
              </a:spcBef>
            </a:pPr>
            <a:r>
              <a:rPr sz="1900" b="0" i="0">
                <a:solidFill>
                  <a:srgbClr val="1A1A2E"/>
                </a:solidFill>
              </a:rPr>
              <a:t>•  This creates a major barrier for:</a:t>
            </a:r>
          </a:p>
          <a:p>
            <a:pPr>
              <a:spcBef>
                <a:spcPts val="200"/>
              </a:spcBef>
            </a:pPr>
            <a:r>
              <a:rPr sz="1700" b="0" i="0">
                <a:solidFill>
                  <a:srgbClr val="555555"/>
                </a:solidFill>
              </a:rPr>
              <a:t>   –  Community energy organisations prioritising retrofit across hundreds of homes</a:t>
            </a:r>
          </a:p>
          <a:p>
            <a:pPr>
              <a:spcBef>
                <a:spcPts val="200"/>
              </a:spcBef>
            </a:pPr>
            <a:r>
              <a:rPr sz="1700" b="0" i="0">
                <a:solidFill>
                  <a:srgbClr val="555555"/>
                </a:solidFill>
              </a:rPr>
              <a:t>   –  Local authorities conducting large-scale housing stock assessments</a:t>
            </a:r>
          </a:p>
          <a:p>
            <a:pPr>
              <a:spcBef>
                <a:spcPts val="200"/>
              </a:spcBef>
            </a:pPr>
            <a:r>
              <a:rPr sz="1700" b="0" i="0">
                <a:solidFill>
                  <a:srgbClr val="555555"/>
                </a:solidFill>
              </a:rPr>
              <a:t>   –  CIRCUS Interreg NWE partners comparing energy performance across 8 countries</a:t>
            </a:r>
          </a:p>
        </p:txBody>
      </p:sp>
      <p:pic>
        <p:nvPicPr>
          <p:cNvPr id="7" name="Picture 6"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The Opportunity</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3 / 10</a:t>
            </a:r>
          </a:p>
        </p:txBody>
      </p:sp>
      <p:sp>
        <p:nvSpPr>
          <p:cNvPr id="6" name="TextBox 5"/>
          <p:cNvSpPr txBox="1"/>
          <p:nvPr/>
        </p:nvSpPr>
        <p:spPr>
          <a:xfrm>
            <a:off x="457200" y="1143000"/>
            <a:ext cx="11414455" cy="4846320"/>
          </a:xfrm>
          <a:prstGeom prst="rect">
            <a:avLst/>
          </a:prstGeom>
          <a:noFill/>
        </p:spPr>
        <p:txBody>
          <a:bodyPr wrap="square">
            <a:spAutoFit/>
          </a:bodyPr>
          <a:lstStyle/>
          <a:p>
            <a:pPr>
              <a:spcBef>
                <a:spcPts val="600"/>
              </a:spcBef>
            </a:pPr>
            <a:r>
              <a:rPr sz="2100" b="0" i="0">
                <a:solidFill>
                  <a:srgbClr val="1A1A2E"/>
                </a:solidFill>
              </a:rPr>
              <a:t>•  Satellite imagery covers virtually every residential address in NWE — at ~9 cm/pixel resolution</a:t>
            </a:r>
          </a:p>
          <a:p>
            <a:pPr>
              <a:spcBef>
                <a:spcPts val="600"/>
              </a:spcBef>
            </a:pPr>
            <a:r>
              <a:rPr sz="2100" b="0" i="0">
                <a:solidFill>
                  <a:srgbClr val="1A1A2E"/>
                </a:solidFill>
              </a:rPr>
              <a:t>•  Google Street View provides photographic exterior surveys of most properties</a:t>
            </a:r>
          </a:p>
          <a:p>
            <a:pPr>
              <a:spcBef>
                <a:spcPts val="600"/>
              </a:spcBef>
            </a:pPr>
            <a:r>
              <a:rPr sz="2100" b="0" i="0">
                <a:solidFill>
                  <a:srgbClr val="1A1A2E"/>
                </a:solidFill>
              </a:rPr>
              <a:t>•  AI vision models can classify building features from photographs with remarkable reliability</a:t>
            </a:r>
          </a:p>
          <a:p>
            <a:pPr>
              <a:spcBef>
                <a:spcPts val="600"/>
              </a:spcBef>
            </a:pPr>
            <a:r>
              <a:rPr sz="2100" b="0" i="0">
                <a:solidFill>
                  <a:srgbClr val="1A1A2E"/>
                </a:solidFill>
              </a:rPr>
              <a:t>•  The energy physics is well-established — the HWB calculation method has been used by practitioners for decades</a:t>
            </a:r>
          </a:p>
          <a:p>
            <a:pPr>
              <a:spcBef>
                <a:spcPts val="600"/>
              </a:spcBef>
            </a:pPr>
            <a:r>
              <a:rPr sz="2100" b="0" i="0">
                <a:solidFill>
                  <a:srgbClr val="1A1A2E"/>
                </a:solidFill>
              </a:rPr>
              <a:t>•  All the inputs needed for an energy rating exist in publicly accessible data</a:t>
            </a:r>
          </a:p>
        </p:txBody>
      </p:sp>
      <p:sp>
        <p:nvSpPr>
          <p:cNvPr id="7" name="TextBox 6"/>
          <p:cNvSpPr txBox="1"/>
          <p:nvPr/>
        </p:nvSpPr>
        <p:spPr>
          <a:xfrm>
            <a:off x="457200" y="4572000"/>
            <a:ext cx="11277295" cy="1371600"/>
          </a:xfrm>
          <a:prstGeom prst="rect">
            <a:avLst/>
          </a:prstGeom>
          <a:noFill/>
        </p:spPr>
        <p:txBody>
          <a:bodyPr wrap="square">
            <a:spAutoFit/>
          </a:bodyPr>
          <a:lstStyle/>
          <a:p>
            <a:pPr algn="l"/>
            <a:r>
              <a:rPr sz="2200" b="1" i="0">
                <a:solidFill>
                  <a:srgbClr val="1B3A6B"/>
                </a:solidFill>
              </a:rPr>
              <a:t>→  Can we automate the entire workflow — from postal address to BER rating — using only publicly available data and AI vision?</a:t>
            </a:r>
          </a:p>
        </p:txBody>
      </p:sp>
      <p:pic>
        <p:nvPicPr>
          <p:cNvPr id="8" name="Picture 7"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What the Tool Does</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4 / 10</a:t>
            </a:r>
          </a:p>
        </p:txBody>
      </p:sp>
      <p:sp>
        <p:nvSpPr>
          <p:cNvPr id="6" name="TextBox 5"/>
          <p:cNvSpPr txBox="1"/>
          <p:nvPr/>
        </p:nvSpPr>
        <p:spPr>
          <a:xfrm>
            <a:off x="411480" y="1097280"/>
            <a:ext cx="6949440" cy="5303520"/>
          </a:xfrm>
          <a:prstGeom prst="rect">
            <a:avLst/>
          </a:prstGeom>
          <a:noFill/>
        </p:spPr>
        <p:txBody>
          <a:bodyPr wrap="square">
            <a:spAutoFit/>
          </a:bodyPr>
          <a:lstStyle/>
          <a:p>
            <a:r>
              <a:rPr sz="2000" b="1" i="0">
                <a:solidFill>
                  <a:srgbClr val="1B3A6B"/>
                </a:solidFill>
              </a:rPr>
              <a:t>Input:</a:t>
            </a:r>
          </a:p>
          <a:p>
            <a:pPr>
              <a:spcBef>
                <a:spcPts val="400"/>
              </a:spcBef>
            </a:pPr>
            <a:r>
              <a:rPr sz="1800" b="0" i="0">
                <a:solidFill>
                  <a:srgbClr val="1A1A2E"/>
                </a:solidFill>
              </a:rPr>
              <a:t>•  A postal code or street address  +  country selection</a:t>
            </a:r>
          </a:p>
          <a:p>
            <a:pPr>
              <a:spcBef>
                <a:spcPts val="400"/>
              </a:spcBef>
            </a:pPr>
            <a:r>
              <a:rPr sz="1800" b="0" i="0">
                <a:solidFill>
                  <a:srgbClr val="1A1A2E"/>
                </a:solidFill>
              </a:rPr>
              <a:t>•  Nothing else.</a:t>
            </a:r>
          </a:p>
          <a:p>
            <a:pPr>
              <a:spcBef>
                <a:spcPts val="1600"/>
              </a:spcBef>
            </a:pPr>
            <a:r>
              <a:rPr sz="2000" b="1" i="0">
                <a:solidFill>
                  <a:srgbClr val="1B3A6B"/>
                </a:solidFill>
              </a:rPr>
              <a:t>Output in under 30 seconds:</a:t>
            </a:r>
          </a:p>
          <a:p>
            <a:pPr>
              <a:spcBef>
                <a:spcPts val="500"/>
              </a:spcBef>
            </a:pPr>
            <a:r>
              <a:rPr sz="1700" b="0" i="0">
                <a:solidFill>
                  <a:srgbClr val="1A1A2E"/>
                </a:solidFill>
              </a:rPr>
              <a:t>•  BER band (Irish A1–G as cross-border reference scale)</a:t>
            </a:r>
          </a:p>
          <a:p>
            <a:pPr>
              <a:spcBef>
                <a:spcPts val="500"/>
              </a:spcBef>
            </a:pPr>
            <a:r>
              <a:rPr sz="1700" b="0" i="0">
                <a:solidFill>
                  <a:srgbClr val="1A1A2E"/>
                </a:solidFill>
              </a:rPr>
              <a:t>•  Native country EPC band (DPE / Energieausweis / Energielabel / GEAK…)</a:t>
            </a:r>
          </a:p>
          <a:p>
            <a:pPr>
              <a:spcBef>
                <a:spcPts val="500"/>
              </a:spcBef>
            </a:pPr>
            <a:r>
              <a:rPr sz="1700" b="0" i="0">
                <a:solidFill>
                  <a:srgbClr val="1A1A2E"/>
                </a:solidFill>
              </a:rPr>
              <a:t>•  Primary energy: kWh/m²/year  ·  CO₂ emissions: kg/year</a:t>
            </a:r>
          </a:p>
          <a:p>
            <a:pPr>
              <a:spcBef>
                <a:spcPts val="500"/>
              </a:spcBef>
            </a:pPr>
            <a:r>
              <a:rPr sz="1700" b="0" i="0">
                <a:solidFill>
                  <a:srgbClr val="1A1A2E"/>
                </a:solidFill>
              </a:rPr>
              <a:t>•  Full energy breakdown: transmission, ventilation, solar &amp; internal gains</a:t>
            </a:r>
          </a:p>
          <a:p>
            <a:pPr>
              <a:spcBef>
                <a:spcPts val="500"/>
              </a:spcBef>
            </a:pPr>
            <a:r>
              <a:rPr sz="1700" b="0" i="0">
                <a:solidFill>
                  <a:srgbClr val="1A1A2E"/>
                </a:solidFill>
              </a:rPr>
              <a:t>•  Building characteristics: dimensions, floor area, type, era, heating system</a:t>
            </a:r>
          </a:p>
          <a:p>
            <a:pPr>
              <a:spcBef>
                <a:spcPts val="500"/>
              </a:spcBef>
            </a:pPr>
            <a:r>
              <a:rPr sz="1700" b="0" i="0">
                <a:solidFill>
                  <a:srgbClr val="1A1A2E"/>
                </a:solidFill>
              </a:rPr>
              <a:t>•  Retrofit comparison: rating after insulation + heating system upgrade</a:t>
            </a:r>
          </a:p>
        </p:txBody>
      </p:sp>
      <p:sp>
        <p:nvSpPr>
          <p:cNvPr id="7" name="Rectangle 6"/>
          <p:cNvSpPr/>
          <p:nvPr/>
        </p:nvSpPr>
        <p:spPr>
          <a:xfrm>
            <a:off x="7589520" y="1097280"/>
            <a:ext cx="4297680" cy="521208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0" y="1188720"/>
            <a:ext cx="3931920" cy="5029200"/>
          </a:xfrm>
          <a:prstGeom prst="rect">
            <a:avLst/>
          </a:prstGeom>
          <a:noFill/>
        </p:spPr>
        <p:txBody>
          <a:bodyPr wrap="square">
            <a:spAutoFit/>
          </a:bodyPr>
          <a:lstStyle/>
          <a:p>
            <a:pPr algn="ctr"/>
            <a:r>
              <a:rPr sz="1900" b="1" i="0">
                <a:solidFill>
                  <a:srgbClr val="1B3A6B"/>
                </a:solidFill>
              </a:rPr>
              <a:t>8 Supported Countries</a:t>
            </a:r>
          </a:p>
          <a:p>
            <a:pPr algn="l">
              <a:spcBef>
                <a:spcPts val="900"/>
              </a:spcBef>
            </a:pPr>
            <a:r>
              <a:rPr sz="1600" b="0" i="0">
                <a:solidFill>
                  <a:srgbClr val="1A1A2E"/>
                </a:solidFill>
              </a:rPr>
              <a:t>•  IE  Ireland (BER A1–G)</a:t>
            </a:r>
          </a:p>
          <a:p>
            <a:pPr algn="l">
              <a:spcBef>
                <a:spcPts val="900"/>
              </a:spcBef>
            </a:pPr>
            <a:r>
              <a:rPr sz="1600" b="0" i="0">
                <a:solidFill>
                  <a:srgbClr val="1A1A2E"/>
                </a:solidFill>
              </a:rPr>
              <a:t>•  FR  France (DPE A–G)</a:t>
            </a:r>
          </a:p>
          <a:p>
            <a:pPr algn="l">
              <a:spcBef>
                <a:spcPts val="900"/>
              </a:spcBef>
            </a:pPr>
            <a:r>
              <a:rPr sz="1600" b="0" i="0">
                <a:solidFill>
                  <a:srgbClr val="1A1A2E"/>
                </a:solidFill>
              </a:rPr>
              <a:t>•  DE  Germany (Energieausweis A+–H)</a:t>
            </a:r>
          </a:p>
          <a:p>
            <a:pPr algn="l">
              <a:spcBef>
                <a:spcPts val="900"/>
              </a:spcBef>
            </a:pPr>
            <a:r>
              <a:rPr sz="1600" b="0" i="0">
                <a:solidFill>
                  <a:srgbClr val="1A1A2E"/>
                </a:solidFill>
              </a:rPr>
              <a:t>•  BE  Belgium (EPC A+–F)</a:t>
            </a:r>
          </a:p>
          <a:p>
            <a:pPr algn="l">
              <a:spcBef>
                <a:spcPts val="900"/>
              </a:spcBef>
            </a:pPr>
            <a:r>
              <a:rPr sz="1600" b="0" i="0">
                <a:solidFill>
                  <a:srgbClr val="1A1A2E"/>
                </a:solidFill>
              </a:rPr>
              <a:t>•  NL  Netherlands (Energielabel A++++–G)</a:t>
            </a:r>
          </a:p>
          <a:p>
            <a:pPr algn="l">
              <a:spcBef>
                <a:spcPts val="900"/>
              </a:spcBef>
            </a:pPr>
            <a:r>
              <a:rPr sz="1600" b="0" i="0">
                <a:solidFill>
                  <a:srgbClr val="1A1A2E"/>
                </a:solidFill>
              </a:rPr>
              <a:t>•  LU  Luxembourg (Energiepass A+–G)</a:t>
            </a:r>
          </a:p>
          <a:p>
            <a:pPr algn="l">
              <a:spcBef>
                <a:spcPts val="900"/>
              </a:spcBef>
            </a:pPr>
            <a:r>
              <a:rPr sz="1600" b="0" i="0">
                <a:solidFill>
                  <a:srgbClr val="1A1A2E"/>
                </a:solidFill>
              </a:rPr>
              <a:t>•  CH  Switzerland (GEAK A–G)</a:t>
            </a:r>
          </a:p>
          <a:p>
            <a:pPr algn="l">
              <a:spcBef>
                <a:spcPts val="900"/>
              </a:spcBef>
            </a:pPr>
            <a:r>
              <a:rPr sz="1600" b="0" i="0">
                <a:solidFill>
                  <a:srgbClr val="1A1A2E"/>
                </a:solidFill>
              </a:rPr>
              <a:t>•  AT  Austria (Energieausweis A++–G+)</a:t>
            </a:r>
          </a:p>
        </p:txBody>
      </p:sp>
      <p:pic>
        <p:nvPicPr>
          <p:cNvPr id="9" name="Picture 8"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The Automated Pipeline</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5 / 10</a:t>
            </a:r>
          </a:p>
        </p:txBody>
      </p:sp>
      <p:sp>
        <p:nvSpPr>
          <p:cNvPr id="6" name="Rectangle 5"/>
          <p:cNvSpPr/>
          <p:nvPr/>
        </p:nvSpPr>
        <p:spPr>
          <a:xfrm>
            <a:off x="481434" y="1234440"/>
            <a:ext cx="2084831" cy="157276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2874" y="1325880"/>
            <a:ext cx="1901951" cy="1389888"/>
          </a:xfrm>
          <a:prstGeom prst="rect">
            <a:avLst/>
          </a:prstGeom>
          <a:noFill/>
        </p:spPr>
        <p:txBody>
          <a:bodyPr wrap="square">
            <a:spAutoFit/>
          </a:bodyPr>
          <a:lstStyle/>
          <a:p>
            <a:pPr algn="ctr"/>
            <a:r>
              <a:rPr sz="1300" b="1" i="0">
                <a:solidFill>
                  <a:srgbClr val="FFFFFF"/>
                </a:solidFill>
              </a:rPr>
              <a:t>1  GEOCODING</a:t>
            </a:r>
          </a:p>
          <a:p>
            <a:pPr algn="ctr">
              <a:spcBef>
                <a:spcPts val="600"/>
              </a:spcBef>
            </a:pPr>
            <a:r>
              <a:rPr sz="1100" b="0" i="0">
                <a:solidFill>
                  <a:srgbClr val="A8C8E8"/>
                </a:solidFill>
              </a:rPr>
              <a:t>Address → GPS
(Google Geocoding API)</a:t>
            </a:r>
          </a:p>
        </p:txBody>
      </p:sp>
      <p:sp>
        <p:nvSpPr>
          <p:cNvPr id="8" name="Rectangle 7"/>
          <p:cNvSpPr/>
          <p:nvPr/>
        </p:nvSpPr>
        <p:spPr>
          <a:xfrm>
            <a:off x="2566265" y="1984248"/>
            <a:ext cx="201168" cy="5029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67433" y="1234440"/>
            <a:ext cx="2084831" cy="1572768"/>
          </a:xfrm>
          <a:prstGeom prst="rect">
            <a:avLst/>
          </a:prstGeom>
          <a:solidFill>
            <a:srgbClr val="1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58873" y="1325880"/>
            <a:ext cx="1901951" cy="1389888"/>
          </a:xfrm>
          <a:prstGeom prst="rect">
            <a:avLst/>
          </a:prstGeom>
          <a:noFill/>
        </p:spPr>
        <p:txBody>
          <a:bodyPr wrap="square">
            <a:spAutoFit/>
          </a:bodyPr>
          <a:lstStyle/>
          <a:p>
            <a:pPr algn="ctr"/>
            <a:r>
              <a:rPr sz="1300" b="1" i="0">
                <a:solidFill>
                  <a:srgbClr val="FFFFFF"/>
                </a:solidFill>
              </a:rPr>
              <a:t>2  IMAGE
    FETCHING</a:t>
            </a:r>
          </a:p>
          <a:p>
            <a:pPr algn="ctr">
              <a:spcBef>
                <a:spcPts val="600"/>
              </a:spcBef>
            </a:pPr>
            <a:r>
              <a:rPr sz="1100" b="0" i="0">
                <a:solidFill>
                  <a:srgbClr val="A8C8E8"/>
                </a:solidFill>
              </a:rPr>
              <a:t>Satellite (zoom 20)
+ 4× Street View
0°/90°/180°/270°</a:t>
            </a:r>
          </a:p>
        </p:txBody>
      </p:sp>
      <p:sp>
        <p:nvSpPr>
          <p:cNvPr id="11" name="Rectangle 10"/>
          <p:cNvSpPr/>
          <p:nvPr/>
        </p:nvSpPr>
        <p:spPr>
          <a:xfrm>
            <a:off x="4852264" y="1984248"/>
            <a:ext cx="201168" cy="5029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53432" y="1234440"/>
            <a:ext cx="2084831" cy="1572768"/>
          </a:xfrm>
          <a:prstGeom prst="rect">
            <a:avLst/>
          </a:prstGeom>
          <a:solidFill>
            <a:srgbClr val="2E60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44872" y="1325880"/>
            <a:ext cx="1901951" cy="1389888"/>
          </a:xfrm>
          <a:prstGeom prst="rect">
            <a:avLst/>
          </a:prstGeom>
          <a:noFill/>
        </p:spPr>
        <p:txBody>
          <a:bodyPr wrap="square">
            <a:spAutoFit/>
          </a:bodyPr>
          <a:lstStyle/>
          <a:p>
            <a:pPr algn="ctr"/>
            <a:r>
              <a:rPr sz="1300" b="1" i="0">
                <a:solidFill>
                  <a:srgbClr val="FFFFFF"/>
                </a:solidFill>
              </a:rPr>
              <a:t>3  AI BUILDING
    ANALYSIS</a:t>
            </a:r>
          </a:p>
          <a:p>
            <a:pPr algn="ctr">
              <a:spcBef>
                <a:spcPts val="600"/>
              </a:spcBef>
            </a:pPr>
            <a:r>
              <a:rPr sz="1100" b="0" i="0">
                <a:solidFill>
                  <a:srgbClr val="A8C8E8"/>
                </a:solidFill>
              </a:rPr>
              <a:t>Claude Vision →
type, era, storeys,
heating system</a:t>
            </a:r>
          </a:p>
        </p:txBody>
      </p:sp>
      <p:sp>
        <p:nvSpPr>
          <p:cNvPr id="14" name="Rectangle 13"/>
          <p:cNvSpPr/>
          <p:nvPr/>
        </p:nvSpPr>
        <p:spPr>
          <a:xfrm>
            <a:off x="7138263" y="1984248"/>
            <a:ext cx="201168" cy="5029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39431" y="1234440"/>
            <a:ext cx="2084831" cy="1572768"/>
          </a:xfrm>
          <a:prstGeom prst="rect">
            <a:avLst/>
          </a:prstGeom>
          <a:solidFill>
            <a:srgbClr val="1A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30871" y="1325880"/>
            <a:ext cx="1901951" cy="1389888"/>
          </a:xfrm>
          <a:prstGeom prst="rect">
            <a:avLst/>
          </a:prstGeom>
          <a:noFill/>
        </p:spPr>
        <p:txBody>
          <a:bodyPr wrap="square">
            <a:spAutoFit/>
          </a:bodyPr>
          <a:lstStyle/>
          <a:p>
            <a:pPr algn="ctr"/>
            <a:r>
              <a:rPr sz="1300" b="1" i="0">
                <a:solidFill>
                  <a:srgbClr val="FFFFFF"/>
                </a:solidFill>
              </a:rPr>
              <a:t>4  FOOTPRINT
    EXTRACTION</a:t>
            </a:r>
          </a:p>
          <a:p>
            <a:pPr algn="ctr">
              <a:spcBef>
                <a:spcPts val="600"/>
              </a:spcBef>
            </a:pPr>
            <a:r>
              <a:rPr sz="1100" b="0" i="0">
                <a:solidFill>
                  <a:srgbClr val="A8C8E8"/>
                </a:solidFill>
              </a:rPr>
              <a:t>Claude Vision (primary)
+ OpenCV
cross-validation</a:t>
            </a:r>
          </a:p>
        </p:txBody>
      </p:sp>
      <p:sp>
        <p:nvSpPr>
          <p:cNvPr id="17" name="Rectangle 16"/>
          <p:cNvSpPr/>
          <p:nvPr/>
        </p:nvSpPr>
        <p:spPr>
          <a:xfrm>
            <a:off x="9424262" y="1984248"/>
            <a:ext cx="201168" cy="5029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625430" y="1234440"/>
            <a:ext cx="2084831" cy="15727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16870" y="1325880"/>
            <a:ext cx="1901951" cy="1389888"/>
          </a:xfrm>
          <a:prstGeom prst="rect">
            <a:avLst/>
          </a:prstGeom>
          <a:noFill/>
        </p:spPr>
        <p:txBody>
          <a:bodyPr wrap="square">
            <a:spAutoFit/>
          </a:bodyPr>
          <a:lstStyle/>
          <a:p>
            <a:pPr algn="ctr"/>
            <a:r>
              <a:rPr sz="1300" b="1" i="0">
                <a:solidFill>
                  <a:srgbClr val="FFFFFF"/>
                </a:solidFill>
              </a:rPr>
              <a:t>5  HWB
    CALCULATION</a:t>
            </a:r>
          </a:p>
          <a:p>
            <a:pPr algn="ctr">
              <a:spcBef>
                <a:spcPts val="600"/>
              </a:spcBef>
            </a:pPr>
            <a:r>
              <a:rPr sz="1100" b="0" i="0">
                <a:solidFill>
                  <a:srgbClr val="A8C8E8"/>
                </a:solidFill>
              </a:rPr>
              <a:t>Annual energy balance
→ kWh/m²/yr
→ BER band</a:t>
            </a:r>
          </a:p>
        </p:txBody>
      </p:sp>
      <p:sp>
        <p:nvSpPr>
          <p:cNvPr id="20" name="TextBox 19"/>
          <p:cNvSpPr txBox="1"/>
          <p:nvPr/>
        </p:nvSpPr>
        <p:spPr>
          <a:xfrm>
            <a:off x="481434" y="987552"/>
            <a:ext cx="4572000" cy="274320"/>
          </a:xfrm>
          <a:prstGeom prst="rect">
            <a:avLst/>
          </a:prstGeom>
          <a:noFill/>
        </p:spPr>
        <p:txBody>
          <a:bodyPr wrap="square">
            <a:spAutoFit/>
          </a:bodyPr>
          <a:lstStyle/>
          <a:p>
            <a:r>
              <a:rPr sz="1400" b="0" i="1">
                <a:solidFill>
                  <a:srgbClr val="555555"/>
                </a:solidFill>
              </a:rPr>
              <a:t>Input: address + country</a:t>
            </a:r>
          </a:p>
        </p:txBody>
      </p:sp>
      <p:sp>
        <p:nvSpPr>
          <p:cNvPr id="21" name="TextBox 20"/>
          <p:cNvSpPr txBox="1"/>
          <p:nvPr/>
        </p:nvSpPr>
        <p:spPr>
          <a:xfrm>
            <a:off x="8253830" y="2880360"/>
            <a:ext cx="3657600" cy="274320"/>
          </a:xfrm>
          <a:prstGeom prst="rect">
            <a:avLst/>
          </a:prstGeom>
          <a:noFill/>
        </p:spPr>
        <p:txBody>
          <a:bodyPr wrap="square">
            <a:spAutoFit/>
          </a:bodyPr>
          <a:lstStyle/>
          <a:p>
            <a:pPr algn="r"/>
            <a:r>
              <a:rPr sz="1400" b="0" i="1">
                <a:solidFill>
                  <a:srgbClr val="555555"/>
                </a:solidFill>
              </a:rPr>
              <a:t>Output: BER + native EPC + CO₂</a:t>
            </a:r>
          </a:p>
        </p:txBody>
      </p:sp>
      <p:sp>
        <p:nvSpPr>
          <p:cNvPr id="22" name="TextBox 21"/>
          <p:cNvSpPr txBox="1"/>
          <p:nvPr/>
        </p:nvSpPr>
        <p:spPr>
          <a:xfrm>
            <a:off x="457200" y="3017520"/>
            <a:ext cx="11414455" cy="1031051"/>
          </a:xfrm>
          <a:prstGeom prst="rect">
            <a:avLst/>
          </a:prstGeom>
          <a:noFill/>
        </p:spPr>
        <p:txBody>
          <a:bodyPr wrap="square">
            <a:spAutoFit/>
          </a:bodyPr>
          <a:lstStyle/>
          <a:p>
            <a:pPr>
              <a:spcBef>
                <a:spcPts val="600"/>
              </a:spcBef>
            </a:pPr>
            <a:r>
              <a:rPr sz="1700" b="0" i="0" dirty="0">
                <a:solidFill>
                  <a:srgbClr val="1A1A2E"/>
                </a:solidFill>
              </a:rPr>
              <a:t>• </a:t>
            </a:r>
            <a:r>
              <a:rPr lang="en-GB" sz="1700" dirty="0">
                <a:solidFill>
                  <a:srgbClr val="1A1A2E"/>
                </a:solidFill>
              </a:rPr>
              <a:t>Initial starting point before site visit</a:t>
            </a:r>
            <a:r>
              <a:rPr sz="1700" b="0" i="0" dirty="0">
                <a:solidFill>
                  <a:srgbClr val="1A1A2E"/>
                </a:solidFill>
              </a:rPr>
              <a:t>.  Near-zero marginal cost per assessment.</a:t>
            </a:r>
          </a:p>
          <a:p>
            <a:pPr>
              <a:spcBef>
                <a:spcPts val="600"/>
              </a:spcBef>
            </a:pPr>
            <a:r>
              <a:rPr sz="1700" b="0" i="0" dirty="0">
                <a:solidFill>
                  <a:srgbClr val="1A1A2E"/>
                </a:solidFill>
              </a:rPr>
              <a:t>•  Confidence gating: if AI confidence &lt; 0.4 the tool uses safe defaults — it never propagates a low-quality guess</a:t>
            </a:r>
          </a:p>
          <a:p>
            <a:pPr>
              <a:spcBef>
                <a:spcPts val="600"/>
              </a:spcBef>
            </a:pPr>
            <a:r>
              <a:rPr sz="1700" b="0" i="0" dirty="0">
                <a:solidFill>
                  <a:srgbClr val="1A1A2E"/>
                </a:solidFill>
              </a:rPr>
              <a:t>•  Graceful degradation at every phase: each step has a fallback so one failure does not crash the pipeline</a:t>
            </a:r>
          </a:p>
        </p:txBody>
      </p:sp>
      <p:pic>
        <p:nvPicPr>
          <p:cNvPr id="23" name="Picture 22"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AI Building Analysis</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6 / 10</a:t>
            </a:r>
          </a:p>
        </p:txBody>
      </p:sp>
      <p:sp>
        <p:nvSpPr>
          <p:cNvPr id="6" name="TextBox 5"/>
          <p:cNvSpPr txBox="1"/>
          <p:nvPr/>
        </p:nvSpPr>
        <p:spPr>
          <a:xfrm>
            <a:off x="457200" y="1097280"/>
            <a:ext cx="6217920" cy="4892040"/>
          </a:xfrm>
          <a:prstGeom prst="rect">
            <a:avLst/>
          </a:prstGeom>
          <a:noFill/>
        </p:spPr>
        <p:txBody>
          <a:bodyPr wrap="square">
            <a:spAutoFit/>
          </a:bodyPr>
          <a:lstStyle/>
          <a:p>
            <a:pPr>
              <a:spcBef>
                <a:spcPts val="600"/>
              </a:spcBef>
            </a:pPr>
            <a:r>
              <a:rPr sz="1800" b="0" i="0">
                <a:solidFill>
                  <a:srgbClr val="1A1A2E"/>
                </a:solidFill>
              </a:rPr>
              <a:t>•  Model: Claude Sonnet (Anthropic) — multimodal vision + language</a:t>
            </a:r>
          </a:p>
          <a:p>
            <a:pPr>
              <a:spcBef>
                <a:spcPts val="600"/>
              </a:spcBef>
            </a:pPr>
            <a:r>
              <a:rPr sz="1800" b="0" i="0">
                <a:solidFill>
                  <a:srgbClr val="1A1A2E"/>
                </a:solidFill>
              </a:rPr>
              <a:t>•  All 4 street view images sent in one request — model cross-references all angles</a:t>
            </a:r>
          </a:p>
          <a:p>
            <a:pPr>
              <a:spcBef>
                <a:spcPts val="200"/>
              </a:spcBef>
            </a:pPr>
            <a:r>
              <a:rPr sz="1600" b="0" i="0">
                <a:solidFill>
                  <a:srgbClr val="555555"/>
                </a:solidFill>
              </a:rPr>
              <a:t>   –  Features visible from only one angle are captured: oil tanks, heat pump units, party walls, flues</a:t>
            </a:r>
          </a:p>
          <a:p>
            <a:pPr>
              <a:spcBef>
                <a:spcPts val="600"/>
              </a:spcBef>
            </a:pPr>
            <a:r>
              <a:rPr sz="1800" b="0" i="0">
                <a:solidFill>
                  <a:srgbClr val="1A1A2E"/>
                </a:solidFill>
              </a:rPr>
              <a:t>•  Country-specific architectural knowledge embedded in prompts:</a:t>
            </a:r>
          </a:p>
          <a:p>
            <a:pPr>
              <a:spcBef>
                <a:spcPts val="200"/>
              </a:spcBef>
            </a:pPr>
            <a:r>
              <a:rPr sz="1600" b="0" i="0">
                <a:solidFill>
                  <a:srgbClr val="555555"/>
                </a:solidFill>
              </a:rPr>
              <a:t>   –  Ireland / France: look for external oil tanks in rural areas</a:t>
            </a:r>
          </a:p>
          <a:p>
            <a:pPr>
              <a:spcBef>
                <a:spcPts val="200"/>
              </a:spcBef>
            </a:pPr>
            <a:r>
              <a:rPr sz="1600" b="0" i="0">
                <a:solidFill>
                  <a:srgbClr val="555555"/>
                </a:solidFill>
              </a:rPr>
              <a:t>   –  Luxembourg / Netherlands: district heating dominant in urban areas</a:t>
            </a:r>
          </a:p>
          <a:p>
            <a:pPr>
              <a:spcBef>
                <a:spcPts val="200"/>
              </a:spcBef>
            </a:pPr>
            <a:r>
              <a:rPr sz="1600" b="0" i="0">
                <a:solidFill>
                  <a:srgbClr val="555555"/>
                </a:solidFill>
              </a:rPr>
              <a:t>   –  Germany: heavy external insulation render common post-1980</a:t>
            </a:r>
          </a:p>
          <a:p>
            <a:pPr>
              <a:spcBef>
                <a:spcPts val="200"/>
              </a:spcBef>
            </a:pPr>
            <a:r>
              <a:rPr sz="1600" b="0" i="0">
                <a:solidFill>
                  <a:srgbClr val="555555"/>
                </a:solidFill>
              </a:rPr>
              <a:t>   –  Switzerland: triple glazing + heat pumps more common post-2010 (Minergie)</a:t>
            </a:r>
          </a:p>
        </p:txBody>
      </p:sp>
      <p:graphicFrame>
        <p:nvGraphicFramePr>
          <p:cNvPr id="7" name="Table 6"/>
          <p:cNvGraphicFramePr>
            <a:graphicFrameLocks noGrp="1"/>
          </p:cNvGraphicFramePr>
          <p:nvPr/>
        </p:nvGraphicFramePr>
        <p:xfrm>
          <a:off x="6583680" y="1097280"/>
          <a:ext cx="5379415" cy="2743200"/>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3413455">
                  <a:extLst>
                    <a:ext uri="{9D8B030D-6E8A-4147-A177-3AD203B41FA5}">
                      <a16:colId xmlns:a16="http://schemas.microsoft.com/office/drawing/2014/main" val="20001"/>
                    </a:ext>
                  </a:extLst>
                </a:gridCol>
              </a:tblGrid>
              <a:tr h="391885">
                <a:tc>
                  <a:txBody>
                    <a:bodyPr/>
                    <a:lstStyle/>
                    <a:p>
                      <a:pPr algn="ctr"/>
                      <a:r>
                        <a:rPr sz="1500" b="1">
                          <a:solidFill>
                            <a:srgbClr val="FFFFFF"/>
                          </a:solidFill>
                        </a:rPr>
                        <a:t>Parameter</a:t>
                      </a:r>
                    </a:p>
                  </a:txBody>
                  <a:tcPr>
                    <a:solidFill>
                      <a:srgbClr val="1B3A6B"/>
                    </a:solidFill>
                  </a:tcPr>
                </a:tc>
                <a:tc>
                  <a:txBody>
                    <a:bodyPr/>
                    <a:lstStyle/>
                    <a:p>
                      <a:pPr algn="ctr"/>
                      <a:r>
                        <a:rPr sz="1500" b="1">
                          <a:solidFill>
                            <a:srgbClr val="FFFFFF"/>
                          </a:solidFill>
                        </a:rPr>
                        <a:t>Examples</a:t>
                      </a:r>
                    </a:p>
                  </a:txBody>
                  <a:tcPr>
                    <a:solidFill>
                      <a:srgbClr val="1B3A6B"/>
                    </a:solidFill>
                  </a:tcPr>
                </a:tc>
                <a:extLst>
                  <a:ext uri="{0D108BD9-81ED-4DB2-BD59-A6C34878D82A}">
                    <a16:rowId xmlns:a16="http://schemas.microsoft.com/office/drawing/2014/main" val="10000"/>
                  </a:ext>
                </a:extLst>
              </a:tr>
              <a:tr h="391885">
                <a:tc>
                  <a:txBody>
                    <a:bodyPr/>
                    <a:lstStyle/>
                    <a:p>
                      <a:pPr algn="l"/>
                      <a:r>
                        <a:rPr sz="1300">
                          <a:solidFill>
                            <a:srgbClr val="1A1A2E"/>
                          </a:solidFill>
                        </a:rPr>
                        <a:t>Building type</a:t>
                      </a:r>
                    </a:p>
                  </a:txBody>
                  <a:tcPr>
                    <a:solidFill>
                      <a:srgbClr val="FFFFFF"/>
                    </a:solidFill>
                  </a:tcPr>
                </a:tc>
                <a:tc>
                  <a:txBody>
                    <a:bodyPr/>
                    <a:lstStyle/>
                    <a:p>
                      <a:pPr algn="ctr"/>
                      <a:r>
                        <a:rPr sz="1300">
                          <a:solidFill>
                            <a:srgbClr val="1A1A2E"/>
                          </a:solidFill>
                        </a:rPr>
                        <a:t>Detached / Semi-D / Terraced</a:t>
                      </a:r>
                    </a:p>
                  </a:txBody>
                  <a:tcPr>
                    <a:solidFill>
                      <a:srgbClr val="FFFFFF"/>
                    </a:solidFill>
                  </a:tcPr>
                </a:tc>
                <a:extLst>
                  <a:ext uri="{0D108BD9-81ED-4DB2-BD59-A6C34878D82A}">
                    <a16:rowId xmlns:a16="http://schemas.microsoft.com/office/drawing/2014/main" val="10001"/>
                  </a:ext>
                </a:extLst>
              </a:tr>
              <a:tr h="391885">
                <a:tc>
                  <a:txBody>
                    <a:bodyPr/>
                    <a:lstStyle/>
                    <a:p>
                      <a:pPr algn="l"/>
                      <a:r>
                        <a:rPr sz="1300">
                          <a:solidFill>
                            <a:srgbClr val="1A1A2E"/>
                          </a:solidFill>
                        </a:rPr>
                        <a:t>Construction era</a:t>
                      </a:r>
                    </a:p>
                  </a:txBody>
                  <a:tcPr>
                    <a:solidFill>
                      <a:srgbClr val="E8ECF2"/>
                    </a:solidFill>
                  </a:tcPr>
                </a:tc>
                <a:tc>
                  <a:txBody>
                    <a:bodyPr/>
                    <a:lstStyle/>
                    <a:p>
                      <a:pPr algn="ctr"/>
                      <a:r>
                        <a:rPr sz="1300">
                          <a:solidFill>
                            <a:srgbClr val="1A1A2E"/>
                          </a:solidFill>
                        </a:rPr>
                        <a:t>Before 1980 → After 2010</a:t>
                      </a:r>
                    </a:p>
                  </a:txBody>
                  <a:tcPr>
                    <a:solidFill>
                      <a:srgbClr val="E8ECF2"/>
                    </a:solidFill>
                  </a:tcPr>
                </a:tc>
                <a:extLst>
                  <a:ext uri="{0D108BD9-81ED-4DB2-BD59-A6C34878D82A}">
                    <a16:rowId xmlns:a16="http://schemas.microsoft.com/office/drawing/2014/main" val="10002"/>
                  </a:ext>
                </a:extLst>
              </a:tr>
              <a:tr h="391885">
                <a:tc>
                  <a:txBody>
                    <a:bodyPr/>
                    <a:lstStyle/>
                    <a:p>
                      <a:pPr algn="l"/>
                      <a:r>
                        <a:rPr sz="1300">
                          <a:solidFill>
                            <a:srgbClr val="1A1A2E"/>
                          </a:solidFill>
                        </a:rPr>
                        <a:t>Storeys</a:t>
                      </a:r>
                    </a:p>
                  </a:txBody>
                  <a:tcPr>
                    <a:solidFill>
                      <a:srgbClr val="FFFFFF"/>
                    </a:solidFill>
                  </a:tcPr>
                </a:tc>
                <a:tc>
                  <a:txBody>
                    <a:bodyPr/>
                    <a:lstStyle/>
                    <a:p>
                      <a:pPr algn="ctr"/>
                      <a:r>
                        <a:rPr sz="1300">
                          <a:solidFill>
                            <a:srgbClr val="1A1A2E"/>
                          </a:solidFill>
                        </a:rPr>
                        <a:t>1 / 2 / 3 / 4</a:t>
                      </a:r>
                    </a:p>
                  </a:txBody>
                  <a:tcPr>
                    <a:solidFill>
                      <a:srgbClr val="FFFFFF"/>
                    </a:solidFill>
                  </a:tcPr>
                </a:tc>
                <a:extLst>
                  <a:ext uri="{0D108BD9-81ED-4DB2-BD59-A6C34878D82A}">
                    <a16:rowId xmlns:a16="http://schemas.microsoft.com/office/drawing/2014/main" val="10003"/>
                  </a:ext>
                </a:extLst>
              </a:tr>
              <a:tr h="391885">
                <a:tc>
                  <a:txBody>
                    <a:bodyPr/>
                    <a:lstStyle/>
                    <a:p>
                      <a:pPr algn="l"/>
                      <a:r>
                        <a:rPr sz="1300">
                          <a:solidFill>
                            <a:srgbClr val="1A1A2E"/>
                          </a:solidFill>
                        </a:rPr>
                        <a:t>Heating system</a:t>
                      </a:r>
                    </a:p>
                  </a:txBody>
                  <a:tcPr>
                    <a:solidFill>
                      <a:srgbClr val="E8ECF2"/>
                    </a:solidFill>
                  </a:tcPr>
                </a:tc>
                <a:tc>
                  <a:txBody>
                    <a:bodyPr/>
                    <a:lstStyle/>
                    <a:p>
                      <a:pPr algn="ctr"/>
                      <a:r>
                        <a:rPr sz="1300">
                          <a:solidFill>
                            <a:srgbClr val="1A1A2E"/>
                          </a:solidFill>
                        </a:rPr>
                        <a:t>Oil, gas, heat pump, biomass, district</a:t>
                      </a:r>
                    </a:p>
                  </a:txBody>
                  <a:tcPr>
                    <a:solidFill>
                      <a:srgbClr val="E8ECF2"/>
                    </a:solidFill>
                  </a:tcPr>
                </a:tc>
                <a:extLst>
                  <a:ext uri="{0D108BD9-81ED-4DB2-BD59-A6C34878D82A}">
                    <a16:rowId xmlns:a16="http://schemas.microsoft.com/office/drawing/2014/main" val="10004"/>
                  </a:ext>
                </a:extLst>
              </a:tr>
              <a:tr h="391885">
                <a:tc>
                  <a:txBody>
                    <a:bodyPr/>
                    <a:lstStyle/>
                    <a:p>
                      <a:pPr algn="l"/>
                      <a:r>
                        <a:rPr sz="1300">
                          <a:solidFill>
                            <a:srgbClr val="1A1A2E"/>
                          </a:solidFill>
                        </a:rPr>
                        <a:t>Confidence</a:t>
                      </a:r>
                    </a:p>
                  </a:txBody>
                  <a:tcPr>
                    <a:solidFill>
                      <a:srgbClr val="FFFFFF"/>
                    </a:solidFill>
                  </a:tcPr>
                </a:tc>
                <a:tc>
                  <a:txBody>
                    <a:bodyPr/>
                    <a:lstStyle/>
                    <a:p>
                      <a:pPr algn="ctr"/>
                      <a:r>
                        <a:rPr sz="1300">
                          <a:solidFill>
                            <a:srgbClr val="1A1A2E"/>
                          </a:solidFill>
                        </a:rPr>
                        <a:t>0.0 – 1.0</a:t>
                      </a:r>
                    </a:p>
                  </a:txBody>
                  <a:tcPr>
                    <a:solidFill>
                      <a:srgbClr val="FFFFFF"/>
                    </a:solidFill>
                  </a:tcPr>
                </a:tc>
                <a:extLst>
                  <a:ext uri="{0D108BD9-81ED-4DB2-BD59-A6C34878D82A}">
                    <a16:rowId xmlns:a16="http://schemas.microsoft.com/office/drawing/2014/main" val="10005"/>
                  </a:ext>
                </a:extLst>
              </a:tr>
              <a:tr h="391890">
                <a:tc>
                  <a:txBody>
                    <a:bodyPr/>
                    <a:lstStyle/>
                    <a:p>
                      <a:pPr algn="l"/>
                      <a:r>
                        <a:rPr sz="1300">
                          <a:solidFill>
                            <a:srgbClr val="1A1A2E"/>
                          </a:solidFill>
                        </a:rPr>
                        <a:t>Reasoning</a:t>
                      </a:r>
                    </a:p>
                  </a:txBody>
                  <a:tcPr>
                    <a:solidFill>
                      <a:srgbClr val="E8ECF2"/>
                    </a:solidFill>
                  </a:tcPr>
                </a:tc>
                <a:tc>
                  <a:txBody>
                    <a:bodyPr/>
                    <a:lstStyle/>
                    <a:p>
                      <a:pPr algn="ctr"/>
                      <a:r>
                        <a:rPr sz="1300">
                          <a:solidFill>
                            <a:srgbClr val="1A1A2E"/>
                          </a:solidFill>
                        </a:rPr>
                        <a:t>Plain-language explanation</a:t>
                      </a:r>
                    </a:p>
                  </a:txBody>
                  <a:tcPr>
                    <a:solidFill>
                      <a:srgbClr val="E8ECF2"/>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411480" y="5074920"/>
            <a:ext cx="11277295" cy="777240"/>
          </a:xfrm>
          <a:prstGeom prst="rect">
            <a:avLst/>
          </a:prstGeom>
          <a:noFill/>
        </p:spPr>
        <p:txBody>
          <a:bodyPr wrap="square">
            <a:spAutoFit/>
          </a:bodyPr>
          <a:lstStyle/>
          <a:p>
            <a:r>
              <a:rPr sz="1700" b="1" i="0">
                <a:solidFill>
                  <a:srgbClr val="1B3A6B"/>
                </a:solidFill>
              </a:rPr>
              <a:t>Confidence gating: </a:t>
            </a:r>
            <a:r>
              <a:rPr sz="1700" b="0" i="0">
                <a:solidFill>
                  <a:srgbClr val="1A1A2E"/>
                </a:solidFill>
              </a:rPr>
              <a:t>if confidence &lt; 0.4 (building obscured or no Street View coverage), the tool applies safe defaults and shows the user a clear warning. It does not propagate an uncertain AI guess into the energy calculation.</a:t>
            </a:r>
          </a:p>
        </p:txBody>
      </p:sp>
      <p:pic>
        <p:nvPicPr>
          <p:cNvPr id="9" name="Picture 8"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The Energy Calculation (HWB Method)</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7 / 10</a:t>
            </a:r>
          </a:p>
        </p:txBody>
      </p:sp>
      <p:sp>
        <p:nvSpPr>
          <p:cNvPr id="6" name="TextBox 5"/>
          <p:cNvSpPr txBox="1"/>
          <p:nvPr/>
        </p:nvSpPr>
        <p:spPr>
          <a:xfrm>
            <a:off x="457200" y="1097280"/>
            <a:ext cx="6217920" cy="4892040"/>
          </a:xfrm>
          <a:prstGeom prst="rect">
            <a:avLst/>
          </a:prstGeom>
          <a:noFill/>
        </p:spPr>
        <p:txBody>
          <a:bodyPr wrap="square">
            <a:spAutoFit/>
          </a:bodyPr>
          <a:lstStyle/>
          <a:p>
            <a:pPr>
              <a:spcBef>
                <a:spcPts val="600"/>
              </a:spcBef>
            </a:pPr>
            <a:r>
              <a:rPr sz="1800" b="0" i="0">
                <a:solidFill>
                  <a:srgbClr val="1A1A2E"/>
                </a:solidFill>
              </a:rPr>
              <a:t>•  HWB (Heizwärmebedarf) annual heating balance</a:t>
            </a:r>
          </a:p>
          <a:p>
            <a:pPr>
              <a:spcBef>
                <a:spcPts val="200"/>
              </a:spcBef>
            </a:pPr>
            <a:r>
              <a:rPr sz="1600" b="0" i="0">
                <a:solidFill>
                  <a:srgbClr val="555555"/>
                </a:solidFill>
              </a:rPr>
              <a:t>   –  ISO 13790 steady-state basis — same standard used by professional EPC tools across Europe</a:t>
            </a:r>
          </a:p>
          <a:p>
            <a:pPr>
              <a:spcBef>
                <a:spcPts val="200"/>
              </a:spcBef>
            </a:pPr>
            <a:r>
              <a:rPr sz="1600" b="0" i="0">
                <a:solidFill>
                  <a:srgbClr val="555555"/>
                </a:solidFill>
              </a:rPr>
              <a:t>   –  Ported cell-by-cell from MTU Excel tool (Benjamin Kaiser, January 2025)</a:t>
            </a:r>
          </a:p>
          <a:p>
            <a:pPr>
              <a:spcBef>
                <a:spcPts val="600"/>
              </a:spcBef>
            </a:pPr>
            <a:r>
              <a:rPr sz="1800" b="0" i="0">
                <a:solidFill>
                  <a:srgbClr val="1A1A2E"/>
                </a:solidFill>
              </a:rPr>
              <a:t>•  Every country-specific input sourced from authoritative data:</a:t>
            </a:r>
          </a:p>
          <a:p>
            <a:pPr>
              <a:spcBef>
                <a:spcPts val="200"/>
              </a:spcBef>
            </a:pPr>
            <a:r>
              <a:rPr sz="1600" b="0" i="0">
                <a:solidFill>
                  <a:srgbClr val="555555"/>
                </a:solidFill>
              </a:rPr>
              <a:t>   –  Heating Degree Days — degreedays.net 2022 data</a:t>
            </a:r>
          </a:p>
          <a:p>
            <a:pPr>
              <a:spcBef>
                <a:spcPts val="200"/>
              </a:spcBef>
            </a:pPr>
            <a:r>
              <a:rPr sz="1600" b="0" i="0">
                <a:solidFill>
                  <a:srgbClr val="555555"/>
                </a:solidFill>
              </a:rPr>
              <a:t>   –  Solar irradiance — PHPP climate database</a:t>
            </a:r>
          </a:p>
          <a:p>
            <a:pPr>
              <a:spcBef>
                <a:spcPts val="200"/>
              </a:spcBef>
            </a:pPr>
            <a:r>
              <a:rPr sz="1600" b="0" i="0">
                <a:solidFill>
                  <a:srgbClr val="555555"/>
                </a:solidFill>
              </a:rPr>
              <a:t>   –  Primary Energy Factor — each country's national EPBD transposition</a:t>
            </a:r>
          </a:p>
          <a:p>
            <a:pPr>
              <a:spcBef>
                <a:spcPts val="200"/>
              </a:spcBef>
            </a:pPr>
            <a:r>
              <a:rPr sz="1600" b="0" i="0">
                <a:solidFill>
                  <a:srgbClr val="555555"/>
                </a:solidFill>
              </a:rPr>
              <a:t>   –  Grid CO₂ intensity — national grid operators (SEAI, RTE, UBA, ELIA, RVO…)</a:t>
            </a:r>
          </a:p>
        </p:txBody>
      </p:sp>
      <p:sp>
        <p:nvSpPr>
          <p:cNvPr id="7" name="Rectangle 6"/>
          <p:cNvSpPr/>
          <p:nvPr/>
        </p:nvSpPr>
        <p:spPr>
          <a:xfrm>
            <a:off x="6583680" y="1097280"/>
            <a:ext cx="5349240" cy="475488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20840" y="1188720"/>
            <a:ext cx="5120640" cy="4572000"/>
          </a:xfrm>
          <a:prstGeom prst="rect">
            <a:avLst/>
          </a:prstGeom>
          <a:noFill/>
        </p:spPr>
        <p:txBody>
          <a:bodyPr wrap="square">
            <a:spAutoFit/>
          </a:bodyPr>
          <a:lstStyle/>
          <a:p>
            <a:pPr algn="l"/>
            <a:r>
              <a:rPr sz="1600" b="1" i="0">
                <a:solidFill>
                  <a:srgbClr val="1B3A6B"/>
                </a:solidFill>
              </a:rPr>
              <a:t>Annual energy balance:</a:t>
            </a:r>
          </a:p>
          <a:p>
            <a:pPr algn="l"/>
            <a:endParaRPr sz="1600" b="1" i="0">
              <a:solidFill>
                <a:srgbClr val="1B3A6B"/>
              </a:solidFill>
            </a:endParaRPr>
          </a:p>
          <a:p>
            <a:pPr algn="l"/>
            <a:r>
              <a:rPr sz="1300" b="0" i="0">
                <a:solidFill>
                  <a:srgbClr val="1A1A2E"/>
                </a:solidFill>
              </a:rPr>
              <a:t>Q_heating  =  Transmission losses (fabric)</a:t>
            </a:r>
          </a:p>
          <a:p>
            <a:pPr algn="l"/>
            <a:r>
              <a:rPr sz="1300" b="0" i="0">
                <a:solidFill>
                  <a:srgbClr val="1A1A2E"/>
                </a:solidFill>
              </a:rPr>
              <a:t>          +  Ventilation losses (air exchange)</a:t>
            </a:r>
          </a:p>
          <a:p>
            <a:pPr algn="l"/>
            <a:r>
              <a:rPr sz="1300" b="0" i="0">
                <a:solidFill>
                  <a:srgbClr val="1A1A2E"/>
                </a:solidFill>
              </a:rPr>
              <a:t>          −  Solar gains (passive solar through windows)</a:t>
            </a:r>
          </a:p>
          <a:p>
            <a:pPr algn="l"/>
            <a:r>
              <a:rPr sz="1300" b="0" i="0">
                <a:solidFill>
                  <a:srgbClr val="1A1A2E"/>
                </a:solidFill>
              </a:rPr>
              <a:t>          −  Internal gains (occupants + appliances)</a:t>
            </a:r>
          </a:p>
          <a:p>
            <a:pPr algn="l"/>
            <a:endParaRPr sz="1300" b="0" i="0">
              <a:solidFill>
                <a:srgbClr val="1A1A2E"/>
              </a:solidFill>
            </a:endParaRPr>
          </a:p>
          <a:p>
            <a:pPr algn="l"/>
            <a:r>
              <a:rPr sz="1300" b="0" i="0">
                <a:solidFill>
                  <a:srgbClr val="1A1A2E"/>
                </a:solidFill>
              </a:rPr>
              <a:t>Final energy  =  Q_heating  ÷  System efficiency</a:t>
            </a:r>
          </a:p>
          <a:p>
            <a:pPr algn="l"/>
            <a:r>
              <a:rPr sz="1200" b="1" i="0">
                <a:solidFill>
                  <a:srgbClr val="555555"/>
                </a:solidFill>
              </a:rPr>
              <a:t>  (SCOP for heat pumps — can exceed 1.0)</a:t>
            </a:r>
          </a:p>
          <a:p>
            <a:pPr algn="l"/>
            <a:endParaRPr sz="1200" b="1" i="0">
              <a:solidFill>
                <a:srgbClr val="555555"/>
              </a:solidFill>
            </a:endParaRPr>
          </a:p>
          <a:p>
            <a:pPr algn="l"/>
            <a:r>
              <a:rPr sz="1300" b="0" i="0">
                <a:solidFill>
                  <a:srgbClr val="1A1A2E"/>
                </a:solidFill>
              </a:rPr>
              <a:t>Primary energy  =  Final energy  ×  PEF  (country-specific)</a:t>
            </a:r>
          </a:p>
          <a:p>
            <a:pPr algn="l"/>
            <a:endParaRPr sz="1300" b="0" i="0">
              <a:solidFill>
                <a:srgbClr val="1A1A2E"/>
              </a:solidFill>
            </a:endParaRPr>
          </a:p>
          <a:p>
            <a:pPr algn="l"/>
            <a:r>
              <a:rPr sz="1300" b="0" i="0">
                <a:solidFill>
                  <a:srgbClr val="1A1A2E"/>
                </a:solidFill>
              </a:rPr>
              <a:t>CO₂  =  Final energy  ×  Grid emission factor</a:t>
            </a:r>
          </a:p>
          <a:p>
            <a:pPr algn="l"/>
            <a:endParaRPr sz="1300" b="0" i="0">
              <a:solidFill>
                <a:srgbClr val="1A1A2E"/>
              </a:solidFill>
            </a:endParaRPr>
          </a:p>
          <a:p>
            <a:pPr algn="l"/>
            <a:r>
              <a:rPr sz="1400" b="1" i="0">
                <a:solidFill>
                  <a:srgbClr val="1B3A6B"/>
                </a:solidFill>
              </a:rPr>
              <a:t>BER band  =  lookup( primary energy / floor area )</a:t>
            </a:r>
          </a:p>
        </p:txBody>
      </p:sp>
      <p:pic>
        <p:nvPicPr>
          <p:cNvPr id="9" name="Picture 8"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CO₂ Across Countries: A Policy Insight</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8 / 10</a:t>
            </a:r>
          </a:p>
        </p:txBody>
      </p:sp>
      <p:graphicFrame>
        <p:nvGraphicFramePr>
          <p:cNvPr id="6" name="Table 5"/>
          <p:cNvGraphicFramePr>
            <a:graphicFrameLocks noGrp="1"/>
          </p:cNvGraphicFramePr>
          <p:nvPr/>
        </p:nvGraphicFramePr>
        <p:xfrm>
          <a:off x="411480" y="1143000"/>
          <a:ext cx="6675120" cy="37998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06400">
                <a:tc>
                  <a:txBody>
                    <a:bodyPr/>
                    <a:lstStyle/>
                    <a:p>
                      <a:pPr algn="ctr"/>
                      <a:r>
                        <a:rPr sz="1500" b="1">
                          <a:solidFill>
                            <a:srgbClr val="FFFFFF"/>
                          </a:solidFill>
                        </a:rPr>
                        <a:t>Country</a:t>
                      </a:r>
                    </a:p>
                  </a:txBody>
                  <a:tcPr>
                    <a:solidFill>
                      <a:srgbClr val="1B3A6B"/>
                    </a:solidFill>
                  </a:tcPr>
                </a:tc>
                <a:tc>
                  <a:txBody>
                    <a:bodyPr/>
                    <a:lstStyle/>
                    <a:p>
                      <a:pPr algn="ctr"/>
                      <a:r>
                        <a:rPr sz="1500" b="1">
                          <a:solidFill>
                            <a:srgbClr val="FFFFFF"/>
                          </a:solidFill>
                        </a:rPr>
                        <a:t>Grid CO₂ (g/kWh)</a:t>
                      </a:r>
                    </a:p>
                  </a:txBody>
                  <a:tcPr>
                    <a:solidFill>
                      <a:srgbClr val="1B3A6B"/>
                    </a:solidFill>
                  </a:tcPr>
                </a:tc>
                <a:tc>
                  <a:txBody>
                    <a:bodyPr/>
                    <a:lstStyle/>
                    <a:p>
                      <a:pPr algn="ctr"/>
                      <a:r>
                        <a:rPr sz="1500" b="1">
                          <a:solidFill>
                            <a:srgbClr val="FFFFFF"/>
                          </a:solidFill>
                        </a:rPr>
                        <a:t>Heat pump CO₂ reduction vs gas</a:t>
                      </a:r>
                    </a:p>
                  </a:txBody>
                  <a:tcPr>
                    <a:solidFill>
                      <a:srgbClr val="1B3A6B"/>
                    </a:solidFill>
                  </a:tcPr>
                </a:tc>
                <a:extLst>
                  <a:ext uri="{0D108BD9-81ED-4DB2-BD59-A6C34878D82A}">
                    <a16:rowId xmlns:a16="http://schemas.microsoft.com/office/drawing/2014/main" val="10000"/>
                  </a:ext>
                </a:extLst>
              </a:tr>
              <a:tr h="406400">
                <a:tc>
                  <a:txBody>
                    <a:bodyPr/>
                    <a:lstStyle/>
                    <a:p>
                      <a:pPr algn="l"/>
                      <a:r>
                        <a:rPr sz="1400">
                          <a:solidFill>
                            <a:srgbClr val="1A1A2E"/>
                          </a:solidFill>
                        </a:rPr>
                        <a:t>Switzerland</a:t>
                      </a:r>
                    </a:p>
                  </a:txBody>
                  <a:tcPr>
                    <a:solidFill>
                      <a:srgbClr val="C8E6C9"/>
                    </a:solidFill>
                  </a:tcPr>
                </a:tc>
                <a:tc>
                  <a:txBody>
                    <a:bodyPr/>
                    <a:lstStyle/>
                    <a:p>
                      <a:pPr algn="ctr"/>
                      <a:r>
                        <a:rPr sz="1400">
                          <a:solidFill>
                            <a:srgbClr val="1A1A2E"/>
                          </a:solidFill>
                        </a:rPr>
                        <a:t>29</a:t>
                      </a:r>
                    </a:p>
                  </a:txBody>
                  <a:tcPr>
                    <a:solidFill>
                      <a:srgbClr val="C8E6C9"/>
                    </a:solidFill>
                  </a:tcPr>
                </a:tc>
                <a:tc>
                  <a:txBody>
                    <a:bodyPr/>
                    <a:lstStyle/>
                    <a:p>
                      <a:pPr algn="ctr"/>
                      <a:r>
                        <a:rPr sz="1400">
                          <a:solidFill>
                            <a:srgbClr val="1A1A2E"/>
                          </a:solidFill>
                        </a:rPr>
                        <a:t>~93%</a:t>
                      </a:r>
                    </a:p>
                  </a:txBody>
                  <a:tcPr>
                    <a:solidFill>
                      <a:srgbClr val="C8E6C9"/>
                    </a:solidFill>
                  </a:tcPr>
                </a:tc>
                <a:extLst>
                  <a:ext uri="{0D108BD9-81ED-4DB2-BD59-A6C34878D82A}">
                    <a16:rowId xmlns:a16="http://schemas.microsoft.com/office/drawing/2014/main" val="10001"/>
                  </a:ext>
                </a:extLst>
              </a:tr>
              <a:tr h="406400">
                <a:tc>
                  <a:txBody>
                    <a:bodyPr/>
                    <a:lstStyle/>
                    <a:p>
                      <a:pPr algn="l"/>
                      <a:r>
                        <a:rPr sz="1400">
                          <a:solidFill>
                            <a:srgbClr val="1A1A2E"/>
                          </a:solidFill>
                        </a:rPr>
                        <a:t>France</a:t>
                      </a:r>
                    </a:p>
                  </a:txBody>
                  <a:tcPr>
                    <a:solidFill>
                      <a:srgbClr val="E8ECF2"/>
                    </a:solidFill>
                  </a:tcPr>
                </a:tc>
                <a:tc>
                  <a:txBody>
                    <a:bodyPr/>
                    <a:lstStyle/>
                    <a:p>
                      <a:pPr algn="ctr"/>
                      <a:r>
                        <a:rPr sz="1400">
                          <a:solidFill>
                            <a:srgbClr val="1A1A2E"/>
                          </a:solidFill>
                        </a:rPr>
                        <a:t>52</a:t>
                      </a:r>
                    </a:p>
                  </a:txBody>
                  <a:tcPr>
                    <a:solidFill>
                      <a:srgbClr val="E8ECF2"/>
                    </a:solidFill>
                  </a:tcPr>
                </a:tc>
                <a:tc>
                  <a:txBody>
                    <a:bodyPr/>
                    <a:lstStyle/>
                    <a:p>
                      <a:pPr algn="ctr"/>
                      <a:r>
                        <a:rPr sz="1400">
                          <a:solidFill>
                            <a:srgbClr val="1A1A2E"/>
                          </a:solidFill>
                        </a:rPr>
                        <a:t>~89%</a:t>
                      </a:r>
                    </a:p>
                  </a:txBody>
                  <a:tcPr>
                    <a:solidFill>
                      <a:srgbClr val="E8ECF2"/>
                    </a:solidFill>
                  </a:tcPr>
                </a:tc>
                <a:extLst>
                  <a:ext uri="{0D108BD9-81ED-4DB2-BD59-A6C34878D82A}">
                    <a16:rowId xmlns:a16="http://schemas.microsoft.com/office/drawing/2014/main" val="10002"/>
                  </a:ext>
                </a:extLst>
              </a:tr>
              <a:tr h="406400">
                <a:tc>
                  <a:txBody>
                    <a:bodyPr/>
                    <a:lstStyle/>
                    <a:p>
                      <a:pPr algn="l"/>
                      <a:r>
                        <a:rPr sz="1400">
                          <a:solidFill>
                            <a:srgbClr val="1A1A2E"/>
                          </a:solidFill>
                        </a:rPr>
                        <a:t>Belgium</a:t>
                      </a:r>
                    </a:p>
                  </a:txBody>
                  <a:tcPr>
                    <a:solidFill>
                      <a:srgbClr val="FFFFFF"/>
                    </a:solidFill>
                  </a:tcPr>
                </a:tc>
                <a:tc>
                  <a:txBody>
                    <a:bodyPr/>
                    <a:lstStyle/>
                    <a:p>
                      <a:pPr algn="ctr"/>
                      <a:r>
                        <a:rPr sz="1400">
                          <a:solidFill>
                            <a:srgbClr val="1A1A2E"/>
                          </a:solidFill>
                        </a:rPr>
                        <a:t>163</a:t>
                      </a:r>
                    </a:p>
                  </a:txBody>
                  <a:tcPr>
                    <a:solidFill>
                      <a:srgbClr val="FFFFFF"/>
                    </a:solidFill>
                  </a:tcPr>
                </a:tc>
                <a:tc>
                  <a:txBody>
                    <a:bodyPr/>
                    <a:lstStyle/>
                    <a:p>
                      <a:pPr algn="ctr"/>
                      <a:r>
                        <a:rPr sz="1400">
                          <a:solidFill>
                            <a:srgbClr val="1A1A2E"/>
                          </a:solidFill>
                        </a:rPr>
                        <a:t>~72%</a:t>
                      </a:r>
                    </a:p>
                  </a:txBody>
                  <a:tcPr>
                    <a:solidFill>
                      <a:srgbClr val="FFFFFF"/>
                    </a:solidFill>
                  </a:tcPr>
                </a:tc>
                <a:extLst>
                  <a:ext uri="{0D108BD9-81ED-4DB2-BD59-A6C34878D82A}">
                    <a16:rowId xmlns:a16="http://schemas.microsoft.com/office/drawing/2014/main" val="10003"/>
                  </a:ext>
                </a:extLst>
              </a:tr>
              <a:tr h="406400">
                <a:tc>
                  <a:txBody>
                    <a:bodyPr/>
                    <a:lstStyle/>
                    <a:p>
                      <a:pPr algn="l"/>
                      <a:r>
                        <a:rPr sz="1400">
                          <a:solidFill>
                            <a:srgbClr val="1A1A2E"/>
                          </a:solidFill>
                        </a:rPr>
                        <a:t>Austria</a:t>
                      </a:r>
                    </a:p>
                  </a:txBody>
                  <a:tcPr>
                    <a:solidFill>
                      <a:srgbClr val="E8ECF2"/>
                    </a:solidFill>
                  </a:tcPr>
                </a:tc>
                <a:tc>
                  <a:txBody>
                    <a:bodyPr/>
                    <a:lstStyle/>
                    <a:p>
                      <a:pPr algn="ctr"/>
                      <a:r>
                        <a:rPr sz="1400">
                          <a:solidFill>
                            <a:srgbClr val="1A1A2E"/>
                          </a:solidFill>
                        </a:rPr>
                        <a:t>156</a:t>
                      </a:r>
                    </a:p>
                  </a:txBody>
                  <a:tcPr>
                    <a:solidFill>
                      <a:srgbClr val="E8ECF2"/>
                    </a:solidFill>
                  </a:tcPr>
                </a:tc>
                <a:tc>
                  <a:txBody>
                    <a:bodyPr/>
                    <a:lstStyle/>
                    <a:p>
                      <a:pPr algn="ctr"/>
                      <a:r>
                        <a:rPr sz="1400">
                          <a:solidFill>
                            <a:srgbClr val="1A1A2E"/>
                          </a:solidFill>
                        </a:rPr>
                        <a:t>~73%</a:t>
                      </a:r>
                    </a:p>
                  </a:txBody>
                  <a:tcPr>
                    <a:solidFill>
                      <a:srgbClr val="E8ECF2"/>
                    </a:solidFill>
                  </a:tcPr>
                </a:tc>
                <a:extLst>
                  <a:ext uri="{0D108BD9-81ED-4DB2-BD59-A6C34878D82A}">
                    <a16:rowId xmlns:a16="http://schemas.microsoft.com/office/drawing/2014/main" val="10004"/>
                  </a:ext>
                </a:extLst>
              </a:tr>
              <a:tr h="406400">
                <a:tc>
                  <a:txBody>
                    <a:bodyPr/>
                    <a:lstStyle/>
                    <a:p>
                      <a:pPr algn="l"/>
                      <a:r>
                        <a:rPr sz="1400">
                          <a:solidFill>
                            <a:srgbClr val="1A1A2E"/>
                          </a:solidFill>
                        </a:rPr>
                        <a:t>Luxembourg</a:t>
                      </a:r>
                    </a:p>
                  </a:txBody>
                  <a:tcPr>
                    <a:solidFill>
                      <a:srgbClr val="FFFFFF"/>
                    </a:solidFill>
                  </a:tcPr>
                </a:tc>
                <a:tc>
                  <a:txBody>
                    <a:bodyPr/>
                    <a:lstStyle/>
                    <a:p>
                      <a:pPr algn="ctr"/>
                      <a:r>
                        <a:rPr sz="1400">
                          <a:solidFill>
                            <a:srgbClr val="1A1A2E"/>
                          </a:solidFill>
                        </a:rPr>
                        <a:t>197</a:t>
                      </a:r>
                    </a:p>
                  </a:txBody>
                  <a:tcPr>
                    <a:solidFill>
                      <a:srgbClr val="FFFFFF"/>
                    </a:solidFill>
                  </a:tcPr>
                </a:tc>
                <a:tc>
                  <a:txBody>
                    <a:bodyPr/>
                    <a:lstStyle/>
                    <a:p>
                      <a:pPr algn="ctr"/>
                      <a:r>
                        <a:rPr sz="1400">
                          <a:solidFill>
                            <a:srgbClr val="1A1A2E"/>
                          </a:solidFill>
                        </a:rPr>
                        <a:t>~66%</a:t>
                      </a:r>
                    </a:p>
                  </a:txBody>
                  <a:tcPr>
                    <a:solidFill>
                      <a:srgbClr val="FFFFFF"/>
                    </a:solidFill>
                  </a:tcPr>
                </a:tc>
                <a:extLst>
                  <a:ext uri="{0D108BD9-81ED-4DB2-BD59-A6C34878D82A}">
                    <a16:rowId xmlns:a16="http://schemas.microsoft.com/office/drawing/2014/main" val="10005"/>
                  </a:ext>
                </a:extLst>
              </a:tr>
              <a:tr h="406400">
                <a:tc>
                  <a:txBody>
                    <a:bodyPr/>
                    <a:lstStyle/>
                    <a:p>
                      <a:pPr algn="l"/>
                      <a:r>
                        <a:rPr sz="1400">
                          <a:solidFill>
                            <a:srgbClr val="1A1A2E"/>
                          </a:solidFill>
                        </a:rPr>
                        <a:t>Ireland</a:t>
                      </a:r>
                    </a:p>
                  </a:txBody>
                  <a:tcPr>
                    <a:solidFill>
                      <a:srgbClr val="E8ECF2"/>
                    </a:solidFill>
                  </a:tcPr>
                </a:tc>
                <a:tc>
                  <a:txBody>
                    <a:bodyPr/>
                    <a:lstStyle/>
                    <a:p>
                      <a:pPr algn="ctr"/>
                      <a:r>
                        <a:rPr sz="1400">
                          <a:solidFill>
                            <a:srgbClr val="1A1A2E"/>
                          </a:solidFill>
                        </a:rPr>
                        <a:t>210</a:t>
                      </a:r>
                    </a:p>
                  </a:txBody>
                  <a:tcPr>
                    <a:solidFill>
                      <a:srgbClr val="E8ECF2"/>
                    </a:solidFill>
                  </a:tcPr>
                </a:tc>
                <a:tc>
                  <a:txBody>
                    <a:bodyPr/>
                    <a:lstStyle/>
                    <a:p>
                      <a:pPr algn="ctr"/>
                      <a:r>
                        <a:rPr sz="1400">
                          <a:solidFill>
                            <a:srgbClr val="1A1A2E"/>
                          </a:solidFill>
                        </a:rPr>
                        <a:t>~64%</a:t>
                      </a:r>
                    </a:p>
                  </a:txBody>
                  <a:tcPr>
                    <a:solidFill>
                      <a:srgbClr val="E8ECF2"/>
                    </a:solidFill>
                  </a:tcPr>
                </a:tc>
                <a:extLst>
                  <a:ext uri="{0D108BD9-81ED-4DB2-BD59-A6C34878D82A}">
                    <a16:rowId xmlns:a16="http://schemas.microsoft.com/office/drawing/2014/main" val="10006"/>
                  </a:ext>
                </a:extLst>
              </a:tr>
              <a:tr h="406400">
                <a:tc>
                  <a:txBody>
                    <a:bodyPr/>
                    <a:lstStyle/>
                    <a:p>
                      <a:pPr algn="l"/>
                      <a:r>
                        <a:rPr sz="1400">
                          <a:solidFill>
                            <a:srgbClr val="1A1A2E"/>
                          </a:solidFill>
                        </a:rPr>
                        <a:t>Netherlands</a:t>
                      </a:r>
                    </a:p>
                  </a:txBody>
                  <a:tcPr>
                    <a:solidFill>
                      <a:srgbClr val="FFFFFF"/>
                    </a:solidFill>
                  </a:tcPr>
                </a:tc>
                <a:tc>
                  <a:txBody>
                    <a:bodyPr/>
                    <a:lstStyle/>
                    <a:p>
                      <a:pPr algn="ctr"/>
                      <a:r>
                        <a:rPr sz="1400">
                          <a:solidFill>
                            <a:srgbClr val="1A1A2E"/>
                          </a:solidFill>
                        </a:rPr>
                        <a:t>290</a:t>
                      </a:r>
                    </a:p>
                  </a:txBody>
                  <a:tcPr>
                    <a:solidFill>
                      <a:srgbClr val="FFFFFF"/>
                    </a:solidFill>
                  </a:tcPr>
                </a:tc>
                <a:tc>
                  <a:txBody>
                    <a:bodyPr/>
                    <a:lstStyle/>
                    <a:p>
                      <a:pPr algn="ctr"/>
                      <a:r>
                        <a:rPr sz="1400">
                          <a:solidFill>
                            <a:srgbClr val="1A1A2E"/>
                          </a:solidFill>
                        </a:rPr>
                        <a:t>~51%</a:t>
                      </a:r>
                    </a:p>
                  </a:txBody>
                  <a:tcPr>
                    <a:solidFill>
                      <a:srgbClr val="FFFFFF"/>
                    </a:solidFill>
                  </a:tcPr>
                </a:tc>
                <a:extLst>
                  <a:ext uri="{0D108BD9-81ED-4DB2-BD59-A6C34878D82A}">
                    <a16:rowId xmlns:a16="http://schemas.microsoft.com/office/drawing/2014/main" val="10007"/>
                  </a:ext>
                </a:extLst>
              </a:tr>
              <a:tr h="406400">
                <a:tc>
                  <a:txBody>
                    <a:bodyPr/>
                    <a:lstStyle/>
                    <a:p>
                      <a:pPr algn="l"/>
                      <a:r>
                        <a:rPr sz="1400">
                          <a:solidFill>
                            <a:srgbClr val="1A1A2E"/>
                          </a:solidFill>
                        </a:rPr>
                        <a:t>Germany</a:t>
                      </a:r>
                    </a:p>
                  </a:txBody>
                  <a:tcPr>
                    <a:solidFill>
                      <a:srgbClr val="FFCCBC"/>
                    </a:solidFill>
                  </a:tcPr>
                </a:tc>
                <a:tc>
                  <a:txBody>
                    <a:bodyPr/>
                    <a:lstStyle/>
                    <a:p>
                      <a:pPr algn="ctr"/>
                      <a:r>
                        <a:rPr sz="1400">
                          <a:solidFill>
                            <a:srgbClr val="1A1A2E"/>
                          </a:solidFill>
                        </a:rPr>
                        <a:t>385</a:t>
                      </a:r>
                    </a:p>
                  </a:txBody>
                  <a:tcPr>
                    <a:solidFill>
                      <a:srgbClr val="FFCCBC"/>
                    </a:solidFill>
                  </a:tcPr>
                </a:tc>
                <a:tc>
                  <a:txBody>
                    <a:bodyPr/>
                    <a:lstStyle/>
                    <a:p>
                      <a:pPr algn="ctr"/>
                      <a:r>
                        <a:rPr sz="1400">
                          <a:solidFill>
                            <a:srgbClr val="1A1A2E"/>
                          </a:solidFill>
                        </a:rPr>
                        <a:t>~49%</a:t>
                      </a:r>
                    </a:p>
                  </a:txBody>
                  <a:tcPr>
                    <a:solidFill>
                      <a:srgbClr val="FFCCBC"/>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7269480" y="1143000"/>
            <a:ext cx="4663440" cy="5303520"/>
          </a:xfrm>
          <a:prstGeom prst="rect">
            <a:avLst/>
          </a:prstGeom>
          <a:noFill/>
        </p:spPr>
        <p:txBody>
          <a:bodyPr wrap="square">
            <a:spAutoFit/>
          </a:bodyPr>
          <a:lstStyle/>
          <a:p>
            <a:r>
              <a:rPr sz="1900" b="1" i="0">
                <a:solidFill>
                  <a:srgbClr val="1B3A6B"/>
                </a:solidFill>
              </a:rPr>
              <a:t>Same building.  Same heat pump.  Same SCOP of 3.5.</a:t>
            </a:r>
          </a:p>
          <a:p>
            <a:pPr>
              <a:spcBef>
                <a:spcPts val="300"/>
              </a:spcBef>
            </a:pPr>
            <a:endParaRPr sz="1900" b="1" i="0">
              <a:solidFill>
                <a:srgbClr val="1B3A6B"/>
              </a:solidFill>
            </a:endParaRPr>
          </a:p>
          <a:p>
            <a:pPr>
              <a:spcBef>
                <a:spcPts val="300"/>
              </a:spcBef>
            </a:pPr>
            <a:r>
              <a:rPr sz="1700" b="0" i="0">
                <a:solidFill>
                  <a:srgbClr val="1A1A2E"/>
                </a:solidFill>
              </a:rPr>
              <a:t>In France: a heat pump is near-zero-carbon heating today.</a:t>
            </a:r>
          </a:p>
          <a:p>
            <a:pPr>
              <a:spcBef>
                <a:spcPts val="300"/>
              </a:spcBef>
            </a:pPr>
            <a:endParaRPr sz="1700" b="0" i="0">
              <a:solidFill>
                <a:srgbClr val="1A1A2E"/>
              </a:solidFill>
            </a:endParaRPr>
          </a:p>
          <a:p>
            <a:pPr>
              <a:spcBef>
                <a:spcPts val="300"/>
              </a:spcBef>
            </a:pPr>
            <a:r>
              <a:rPr sz="1700" b="0" i="0">
                <a:solidFill>
                  <a:srgbClr val="1A1A2E"/>
                </a:solidFill>
              </a:rPr>
              <a:t>In Germany: a heat pump halves CO₂ but is not yet transformational — grid decarbonisation must follow.</a:t>
            </a:r>
          </a:p>
          <a:p>
            <a:pPr>
              <a:spcBef>
                <a:spcPts val="300"/>
              </a:spcBef>
            </a:pPr>
            <a:endParaRPr sz="1700" b="0" i="0">
              <a:solidFill>
                <a:srgbClr val="1A1A2E"/>
              </a:solidFill>
            </a:endParaRPr>
          </a:p>
          <a:p>
            <a:pPr>
              <a:spcBef>
                <a:spcPts val="300"/>
              </a:spcBef>
            </a:pPr>
            <a:r>
              <a:rPr sz="1700" b="1" i="0">
                <a:solidFill>
                  <a:srgbClr val="1B3A6B"/>
                </a:solidFill>
              </a:rPr>
              <a:t>For CIRCUS partners advising communities on retrofit priority, this distinction is critical.</a:t>
            </a:r>
          </a:p>
          <a:p>
            <a:pPr>
              <a:spcBef>
                <a:spcPts val="300"/>
              </a:spcBef>
            </a:pPr>
            <a:endParaRPr sz="1700" b="1" i="0">
              <a:solidFill>
                <a:srgbClr val="1B3A6B"/>
              </a:solidFill>
            </a:endParaRPr>
          </a:p>
          <a:p>
            <a:pPr>
              <a:spcBef>
                <a:spcPts val="300"/>
              </a:spcBef>
            </a:pPr>
            <a:r>
              <a:rPr sz="1600" b="0" i="0">
                <a:solidFill>
                  <a:srgbClr val="555555"/>
                </a:solidFill>
              </a:rPr>
              <a:t>Insulation-first strategies may be more immediately effective in high-carbon-grid countries.</a:t>
            </a:r>
          </a:p>
        </p:txBody>
      </p:sp>
      <p:pic>
        <p:nvPicPr>
          <p:cNvPr id="8" name="Picture 7"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Retrofit Analysis</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9 / 10</a:t>
            </a:r>
          </a:p>
        </p:txBody>
      </p:sp>
      <p:sp>
        <p:nvSpPr>
          <p:cNvPr id="6" name="TextBox 5"/>
          <p:cNvSpPr txBox="1"/>
          <p:nvPr/>
        </p:nvSpPr>
        <p:spPr>
          <a:xfrm>
            <a:off x="411480" y="1097280"/>
            <a:ext cx="11368735" cy="384048"/>
          </a:xfrm>
          <a:prstGeom prst="rect">
            <a:avLst/>
          </a:prstGeom>
          <a:noFill/>
        </p:spPr>
        <p:txBody>
          <a:bodyPr wrap="square">
            <a:spAutoFit/>
          </a:bodyPr>
          <a:lstStyle/>
          <a:p>
            <a:r>
              <a:rPr sz="1700" b="0" i="1">
                <a:solidFill>
                  <a:srgbClr val="555555"/>
                </a:solidFill>
              </a:rPr>
              <a:t>Example: Pre-1980 Irish detached house on gas boiler — a very common typology in rural Ireland</a:t>
            </a:r>
          </a:p>
        </p:txBody>
      </p:sp>
      <p:graphicFrame>
        <p:nvGraphicFramePr>
          <p:cNvPr id="7" name="Table 6"/>
          <p:cNvGraphicFramePr>
            <a:graphicFrameLocks noGrp="1"/>
          </p:cNvGraphicFramePr>
          <p:nvPr/>
        </p:nvGraphicFramePr>
        <p:xfrm>
          <a:off x="411480" y="1572768"/>
          <a:ext cx="11368735" cy="2310384"/>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819095">
                  <a:extLst>
                    <a:ext uri="{9D8B030D-6E8A-4147-A177-3AD203B41FA5}">
                      <a16:colId xmlns:a16="http://schemas.microsoft.com/office/drawing/2014/main" val="20003"/>
                    </a:ext>
                  </a:extLst>
                </a:gridCol>
              </a:tblGrid>
              <a:tr h="448056">
                <a:tc>
                  <a:txBody>
                    <a:bodyPr/>
                    <a:lstStyle/>
                    <a:p>
                      <a:pPr algn="ctr"/>
                      <a:r>
                        <a:rPr sz="1500" b="1">
                          <a:solidFill>
                            <a:srgbClr val="FFFFFF"/>
                          </a:solidFill>
                        </a:rPr>
                        <a:t>Scenario</a:t>
                      </a:r>
                    </a:p>
                  </a:txBody>
                  <a:tcPr>
                    <a:solidFill>
                      <a:srgbClr val="1B3A6B"/>
                    </a:solidFill>
                  </a:tcPr>
                </a:tc>
                <a:tc>
                  <a:txBody>
                    <a:bodyPr/>
                    <a:lstStyle/>
                    <a:p>
                      <a:pPr algn="ctr"/>
                      <a:r>
                        <a:rPr sz="1500" b="1">
                          <a:solidFill>
                            <a:srgbClr val="FFFFFF"/>
                          </a:solidFill>
                        </a:rPr>
                        <a:t>Primary energy</a:t>
                      </a:r>
                    </a:p>
                  </a:txBody>
                  <a:tcPr>
                    <a:solidFill>
                      <a:srgbClr val="1B3A6B"/>
                    </a:solidFill>
                  </a:tcPr>
                </a:tc>
                <a:tc>
                  <a:txBody>
                    <a:bodyPr/>
                    <a:lstStyle/>
                    <a:p>
                      <a:pPr algn="ctr"/>
                      <a:r>
                        <a:rPr sz="1500" b="1">
                          <a:solidFill>
                            <a:srgbClr val="FFFFFF"/>
                          </a:solidFill>
                        </a:rPr>
                        <a:t>BER band</a:t>
                      </a:r>
                    </a:p>
                  </a:txBody>
                  <a:tcPr>
                    <a:solidFill>
                      <a:srgbClr val="1B3A6B"/>
                    </a:solidFill>
                  </a:tcPr>
                </a:tc>
                <a:tc>
                  <a:txBody>
                    <a:bodyPr/>
                    <a:lstStyle/>
                    <a:p>
                      <a:pPr algn="ctr"/>
                      <a:r>
                        <a:rPr sz="1500" b="1">
                          <a:solidFill>
                            <a:srgbClr val="FFFFFF"/>
                          </a:solidFill>
                        </a:rPr>
                        <a:t>CO₂</a:t>
                      </a:r>
                    </a:p>
                  </a:txBody>
                  <a:tcPr>
                    <a:solidFill>
                      <a:srgbClr val="1B3A6B"/>
                    </a:solidFill>
                  </a:tcPr>
                </a:tc>
                <a:extLst>
                  <a:ext uri="{0D108BD9-81ED-4DB2-BD59-A6C34878D82A}">
                    <a16:rowId xmlns:a16="http://schemas.microsoft.com/office/drawing/2014/main" val="10000"/>
                  </a:ext>
                </a:extLst>
              </a:tr>
              <a:tr h="448056">
                <a:tc>
                  <a:txBody>
                    <a:bodyPr/>
                    <a:lstStyle/>
                    <a:p>
                      <a:pPr algn="l"/>
                      <a:r>
                        <a:rPr sz="1400">
                          <a:solidFill>
                            <a:srgbClr val="1A1A2E"/>
                          </a:solidFill>
                        </a:rPr>
                        <a:t>Baseline (pre-1980, gas boiler)</a:t>
                      </a:r>
                    </a:p>
                  </a:txBody>
                  <a:tcPr>
                    <a:solidFill>
                      <a:srgbClr val="FFFFFF"/>
                    </a:solidFill>
                  </a:tcPr>
                </a:tc>
                <a:tc>
                  <a:txBody>
                    <a:bodyPr/>
                    <a:lstStyle/>
                    <a:p>
                      <a:pPr algn="ctr"/>
                      <a:r>
                        <a:rPr sz="1400">
                          <a:solidFill>
                            <a:srgbClr val="1A1A2E"/>
                          </a:solidFill>
                        </a:rPr>
                        <a:t>177.6 kWh/m²/yr</a:t>
                      </a:r>
                    </a:p>
                  </a:txBody>
                  <a:tcPr>
                    <a:solidFill>
                      <a:srgbClr val="FFFFFF"/>
                    </a:solidFill>
                  </a:tcPr>
                </a:tc>
                <a:tc>
                  <a:txBody>
                    <a:bodyPr/>
                    <a:lstStyle/>
                    <a:p>
                      <a:pPr algn="ctr"/>
                      <a:r>
                        <a:rPr sz="1400">
                          <a:solidFill>
                            <a:srgbClr val="1A1A2E"/>
                          </a:solidFill>
                        </a:rPr>
                        <a:t>C2</a:t>
                      </a:r>
                    </a:p>
                  </a:txBody>
                  <a:tcPr>
                    <a:solidFill>
                      <a:srgbClr val="FFFFFF"/>
                    </a:solidFill>
                  </a:tcPr>
                </a:tc>
                <a:tc>
                  <a:txBody>
                    <a:bodyPr/>
                    <a:lstStyle/>
                    <a:p>
                      <a:pPr algn="ctr"/>
                      <a:r>
                        <a:rPr sz="1400">
                          <a:solidFill>
                            <a:srgbClr val="1A1A2E"/>
                          </a:solidFill>
                        </a:rPr>
                        <a:t>31.3 kg/m²/yr</a:t>
                      </a:r>
                    </a:p>
                  </a:txBody>
                  <a:tcPr>
                    <a:solidFill>
                      <a:srgbClr val="FFFFFF"/>
                    </a:solidFill>
                  </a:tcPr>
                </a:tc>
                <a:extLst>
                  <a:ext uri="{0D108BD9-81ED-4DB2-BD59-A6C34878D82A}">
                    <a16:rowId xmlns:a16="http://schemas.microsoft.com/office/drawing/2014/main" val="10001"/>
                  </a:ext>
                </a:extLst>
              </a:tr>
              <a:tr h="448056">
                <a:tc>
                  <a:txBody>
                    <a:bodyPr/>
                    <a:lstStyle/>
                    <a:p>
                      <a:pPr algn="l"/>
                      <a:r>
                        <a:rPr sz="1400">
                          <a:solidFill>
                            <a:srgbClr val="1A1A2E"/>
                          </a:solidFill>
                        </a:rPr>
                        <a:t>+ Wall insulation (12 cm)  +  Roof insulation (20 cm)  +  Triple glazing</a:t>
                      </a:r>
                    </a:p>
                  </a:txBody>
                  <a:tcPr>
                    <a:solidFill>
                      <a:srgbClr val="E8ECF2"/>
                    </a:solidFill>
                  </a:tcPr>
                </a:tc>
                <a:tc>
                  <a:txBody>
                    <a:bodyPr/>
                    <a:lstStyle/>
                    <a:p>
                      <a:pPr algn="ctr"/>
                      <a:r>
                        <a:rPr sz="1400">
                          <a:solidFill>
                            <a:srgbClr val="1A1A2E"/>
                          </a:solidFill>
                        </a:rPr>
                        <a:t>~130 kWh/m²/yr</a:t>
                      </a:r>
                    </a:p>
                  </a:txBody>
                  <a:tcPr>
                    <a:solidFill>
                      <a:srgbClr val="E8ECF2"/>
                    </a:solidFill>
                  </a:tcPr>
                </a:tc>
                <a:tc>
                  <a:txBody>
                    <a:bodyPr/>
                    <a:lstStyle/>
                    <a:p>
                      <a:pPr algn="ctr"/>
                      <a:r>
                        <a:rPr sz="1400">
                          <a:solidFill>
                            <a:srgbClr val="1A1A2E"/>
                          </a:solidFill>
                        </a:rPr>
                        <a:t>B3</a:t>
                      </a:r>
                    </a:p>
                  </a:txBody>
                  <a:tcPr>
                    <a:solidFill>
                      <a:srgbClr val="E8ECF2"/>
                    </a:solidFill>
                  </a:tcPr>
                </a:tc>
                <a:tc>
                  <a:txBody>
                    <a:bodyPr/>
                    <a:lstStyle/>
                    <a:p>
                      <a:pPr algn="ctr"/>
                      <a:r>
                        <a:rPr sz="1400">
                          <a:solidFill>
                            <a:srgbClr val="1A1A2E"/>
                          </a:solidFill>
                        </a:rPr>
                        <a:t>~22.9 kg/m²/yr</a:t>
                      </a:r>
                    </a:p>
                  </a:txBody>
                  <a:tcPr>
                    <a:solidFill>
                      <a:srgbClr val="E8ECF2"/>
                    </a:solidFill>
                  </a:tcPr>
                </a:tc>
                <a:extLst>
                  <a:ext uri="{0D108BD9-81ED-4DB2-BD59-A6C34878D82A}">
                    <a16:rowId xmlns:a16="http://schemas.microsoft.com/office/drawing/2014/main" val="10002"/>
                  </a:ext>
                </a:extLst>
              </a:tr>
              <a:tr h="448056">
                <a:tc>
                  <a:txBody>
                    <a:bodyPr/>
                    <a:lstStyle/>
                    <a:p>
                      <a:pPr algn="l"/>
                      <a:r>
                        <a:rPr sz="1400">
                          <a:solidFill>
                            <a:srgbClr val="1A1A2E"/>
                          </a:solidFill>
                        </a:rPr>
                        <a:t>+ Switch to air-source heat pump</a:t>
                      </a:r>
                    </a:p>
                  </a:txBody>
                  <a:tcPr>
                    <a:solidFill>
                      <a:srgbClr val="FFFFFF"/>
                    </a:solidFill>
                  </a:tcPr>
                </a:tc>
                <a:tc>
                  <a:txBody>
                    <a:bodyPr/>
                    <a:lstStyle/>
                    <a:p>
                      <a:pPr algn="ctr"/>
                      <a:r>
                        <a:rPr sz="1400">
                          <a:solidFill>
                            <a:srgbClr val="1A1A2E"/>
                          </a:solidFill>
                        </a:rPr>
                        <a:t>~50 kWh/m²/yr</a:t>
                      </a:r>
                    </a:p>
                  </a:txBody>
                  <a:tcPr>
                    <a:solidFill>
                      <a:srgbClr val="FFFFFF"/>
                    </a:solidFill>
                  </a:tcPr>
                </a:tc>
                <a:tc>
                  <a:txBody>
                    <a:bodyPr/>
                    <a:lstStyle/>
                    <a:p>
                      <a:pPr algn="ctr"/>
                      <a:r>
                        <a:rPr sz="1400">
                          <a:solidFill>
                            <a:srgbClr val="1A1A2E"/>
                          </a:solidFill>
                        </a:rPr>
                        <a:t>A2</a:t>
                      </a:r>
                    </a:p>
                  </a:txBody>
                  <a:tcPr>
                    <a:solidFill>
                      <a:srgbClr val="FFFFFF"/>
                    </a:solidFill>
                  </a:tcPr>
                </a:tc>
                <a:tc>
                  <a:txBody>
                    <a:bodyPr/>
                    <a:lstStyle/>
                    <a:p>
                      <a:pPr algn="ctr"/>
                      <a:r>
                        <a:rPr sz="1400">
                          <a:solidFill>
                            <a:srgbClr val="1A1A2E"/>
                          </a:solidFill>
                        </a:rPr>
                        <a:t>~4.3 kg/m²/yr</a:t>
                      </a:r>
                    </a:p>
                  </a:txBody>
                  <a:tcPr>
                    <a:solidFill>
                      <a:srgbClr val="FFFFFF"/>
                    </a:solidFill>
                  </a:tcPr>
                </a:tc>
                <a:extLst>
                  <a:ext uri="{0D108BD9-81ED-4DB2-BD59-A6C34878D82A}">
                    <a16:rowId xmlns:a16="http://schemas.microsoft.com/office/drawing/2014/main" val="10003"/>
                  </a:ext>
                </a:extLst>
              </a:tr>
              <a:tr h="448056">
                <a:tc>
                  <a:txBody>
                    <a:bodyPr/>
                    <a:lstStyle/>
                    <a:p>
                      <a:pPr algn="l"/>
                      <a:r>
                        <a:rPr sz="1400" b="1">
                          <a:solidFill>
                            <a:srgbClr val="FFFFFF"/>
                          </a:solidFill>
                        </a:rPr>
                        <a:t>Total improvement</a:t>
                      </a:r>
                    </a:p>
                  </a:txBody>
                  <a:tcPr>
                    <a:solidFill>
                      <a:srgbClr val="1B3A6B"/>
                    </a:solidFill>
                  </a:tcPr>
                </a:tc>
                <a:tc>
                  <a:txBody>
                    <a:bodyPr/>
                    <a:lstStyle/>
                    <a:p>
                      <a:pPr algn="ctr"/>
                      <a:r>
                        <a:rPr sz="1400" b="1">
                          <a:solidFill>
                            <a:srgbClr val="FFFFFF"/>
                          </a:solidFill>
                        </a:rPr>
                        <a:t>−72%</a:t>
                      </a:r>
                    </a:p>
                  </a:txBody>
                  <a:tcPr>
                    <a:solidFill>
                      <a:srgbClr val="1B3A6B"/>
                    </a:solidFill>
                  </a:tcPr>
                </a:tc>
                <a:tc>
                  <a:txBody>
                    <a:bodyPr/>
                    <a:lstStyle/>
                    <a:p>
                      <a:pPr algn="ctr"/>
                      <a:r>
                        <a:rPr sz="1400" b="1">
                          <a:solidFill>
                            <a:srgbClr val="FFFFFF"/>
                          </a:solidFill>
                        </a:rPr>
                        <a:t>C2 → A2</a:t>
                      </a:r>
                    </a:p>
                  </a:txBody>
                  <a:tcPr>
                    <a:solidFill>
                      <a:srgbClr val="1B3A6B"/>
                    </a:solidFill>
                  </a:tcPr>
                </a:tc>
                <a:tc>
                  <a:txBody>
                    <a:bodyPr/>
                    <a:lstStyle/>
                    <a:p>
                      <a:pPr algn="ctr"/>
                      <a:r>
                        <a:rPr sz="1400" b="1">
                          <a:solidFill>
                            <a:srgbClr val="FFFFFF"/>
                          </a:solidFill>
                        </a:rPr>
                        <a:t>−86% CO₂</a:t>
                      </a:r>
                    </a:p>
                  </a:txBody>
                  <a:tcPr>
                    <a:solidFill>
                      <a:srgbClr val="1B3A6B"/>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57200" y="4005072"/>
            <a:ext cx="11414455" cy="1984248"/>
          </a:xfrm>
          <a:prstGeom prst="rect">
            <a:avLst/>
          </a:prstGeom>
          <a:noFill/>
        </p:spPr>
        <p:txBody>
          <a:bodyPr wrap="square">
            <a:spAutoFit/>
          </a:bodyPr>
          <a:lstStyle/>
          <a:p>
            <a:pPr>
              <a:spcBef>
                <a:spcPts val="600"/>
              </a:spcBef>
            </a:pPr>
            <a:r>
              <a:rPr sz="1800" b="0" i="0">
                <a:solidFill>
                  <a:srgbClr val="1A1A2E"/>
                </a:solidFill>
              </a:rPr>
              <a:t>•  Built-in before/after comparison — specify insulation thickness, window U-value, heating system swap</a:t>
            </a:r>
          </a:p>
          <a:p>
            <a:pPr>
              <a:spcBef>
                <a:spcPts val="600"/>
              </a:spcBef>
            </a:pPr>
            <a:r>
              <a:rPr sz="1800" b="0" i="0">
                <a:solidFill>
                  <a:srgbClr val="1A1A2E"/>
                </a:solidFill>
              </a:rPr>
              <a:t>•  Identifies which homes benefit most from insulation vs heating system change</a:t>
            </a:r>
          </a:p>
          <a:p>
            <a:pPr>
              <a:spcBef>
                <a:spcPts val="600"/>
              </a:spcBef>
            </a:pPr>
            <a:r>
              <a:rPr sz="1800" b="0" i="0">
                <a:solidFill>
                  <a:srgbClr val="1A1A2E"/>
                </a:solidFill>
              </a:rPr>
              <a:t>•  Makes the retrofit pathway tangible for homeowners and community energy organisations</a:t>
            </a:r>
          </a:p>
          <a:p>
            <a:pPr>
              <a:spcBef>
                <a:spcPts val="600"/>
              </a:spcBef>
            </a:pPr>
            <a:r>
              <a:rPr sz="1800" b="0" i="0">
                <a:solidFill>
                  <a:srgbClr val="1A1A2E"/>
                </a:solidFill>
              </a:rPr>
              <a:t>•  Directly supports national grant scheme (SEAI / equivalent) conversations</a:t>
            </a:r>
          </a:p>
        </p:txBody>
      </p:sp>
      <p:pic>
        <p:nvPicPr>
          <p:cNvPr id="9" name="Picture 8"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411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18872"/>
            <a:ext cx="9631375" cy="841248"/>
          </a:xfrm>
          <a:prstGeom prst="rect">
            <a:avLst/>
          </a:prstGeom>
          <a:noFill/>
        </p:spPr>
        <p:txBody>
          <a:bodyPr wrap="square">
            <a:spAutoFit/>
          </a:bodyPr>
          <a:lstStyle/>
          <a:p>
            <a:pPr algn="l"/>
            <a:r>
              <a:rPr sz="2800" b="1" i="0">
                <a:solidFill>
                  <a:srgbClr val="FFFFFF"/>
                </a:solidFill>
              </a:rPr>
              <a:t>Accuracy, Limitations &amp; What’s Next</a:t>
            </a:r>
          </a:p>
        </p:txBody>
      </p:sp>
      <p:sp>
        <p:nvSpPr>
          <p:cNvPr id="5" name="TextBox 4"/>
          <p:cNvSpPr txBox="1"/>
          <p:nvPr/>
        </p:nvSpPr>
        <p:spPr>
          <a:xfrm>
            <a:off x="11185855" y="64008"/>
            <a:ext cx="868680" cy="365760"/>
          </a:xfrm>
          <a:prstGeom prst="rect">
            <a:avLst/>
          </a:prstGeom>
          <a:noFill/>
        </p:spPr>
        <p:txBody>
          <a:bodyPr wrap="square">
            <a:spAutoFit/>
          </a:bodyPr>
          <a:lstStyle/>
          <a:p>
            <a:pPr algn="r"/>
            <a:r>
              <a:rPr sz="1200" b="0" i="0">
                <a:solidFill>
                  <a:srgbClr val="A8C8E8"/>
                </a:solidFill>
              </a:rPr>
              <a:t>10 / 10</a:t>
            </a:r>
          </a:p>
        </p:txBody>
      </p:sp>
      <p:graphicFrame>
        <p:nvGraphicFramePr>
          <p:cNvPr id="6" name="Table 5"/>
          <p:cNvGraphicFramePr>
            <a:graphicFrameLocks noGrp="1"/>
          </p:cNvGraphicFramePr>
          <p:nvPr/>
        </p:nvGraphicFramePr>
        <p:xfrm>
          <a:off x="411480" y="1097280"/>
          <a:ext cx="5943600" cy="1874519"/>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74903">
                <a:tc>
                  <a:txBody>
                    <a:bodyPr/>
                    <a:lstStyle/>
                    <a:p>
                      <a:pPr algn="ctr"/>
                      <a:r>
                        <a:rPr sz="1500" b="1">
                          <a:solidFill>
                            <a:srgbClr val="FFFFFF"/>
                          </a:solidFill>
                        </a:rPr>
                        <a:t>Scenario</a:t>
                      </a:r>
                    </a:p>
                  </a:txBody>
                  <a:tcPr>
                    <a:solidFill>
                      <a:srgbClr val="1B3A6B"/>
                    </a:solidFill>
                  </a:tcPr>
                </a:tc>
                <a:tc>
                  <a:txBody>
                    <a:bodyPr/>
                    <a:lstStyle/>
                    <a:p>
                      <a:pPr algn="ctr"/>
                      <a:r>
                        <a:rPr sz="1500" b="1">
                          <a:solidFill>
                            <a:srgbClr val="FFFFFF"/>
                          </a:solidFill>
                        </a:rPr>
                        <a:t>Expected accuracy</a:t>
                      </a:r>
                    </a:p>
                  </a:txBody>
                  <a:tcPr>
                    <a:solidFill>
                      <a:srgbClr val="1B3A6B"/>
                    </a:solidFill>
                  </a:tcPr>
                </a:tc>
                <a:extLst>
                  <a:ext uri="{0D108BD9-81ED-4DB2-BD59-A6C34878D82A}">
                    <a16:rowId xmlns:a16="http://schemas.microsoft.com/office/drawing/2014/main" val="10000"/>
                  </a:ext>
                </a:extLst>
              </a:tr>
              <a:tr h="374903">
                <a:tc>
                  <a:txBody>
                    <a:bodyPr/>
                    <a:lstStyle/>
                    <a:p>
                      <a:pPr algn="l"/>
                      <a:r>
                        <a:rPr sz="1400">
                          <a:solidFill>
                            <a:srgbClr val="1A1A2E"/>
                          </a:solidFill>
                        </a:rPr>
                        <a:t>Clear building, good Street View coverage</a:t>
                      </a:r>
                    </a:p>
                  </a:txBody>
                  <a:tcPr>
                    <a:solidFill>
                      <a:srgbClr val="FFFFFF"/>
                    </a:solidFill>
                  </a:tcPr>
                </a:tc>
                <a:tc>
                  <a:txBody>
                    <a:bodyPr/>
                    <a:lstStyle/>
                    <a:p>
                      <a:pPr algn="ctr"/>
                      <a:r>
                        <a:rPr sz="1400">
                          <a:solidFill>
                            <a:srgbClr val="1A1A2E"/>
                          </a:solidFill>
                        </a:rPr>
                        <a:t>±1–2 BER bands</a:t>
                      </a:r>
                    </a:p>
                  </a:txBody>
                  <a:tcPr>
                    <a:solidFill>
                      <a:srgbClr val="FFFFFF"/>
                    </a:solidFill>
                  </a:tcPr>
                </a:tc>
                <a:extLst>
                  <a:ext uri="{0D108BD9-81ED-4DB2-BD59-A6C34878D82A}">
                    <a16:rowId xmlns:a16="http://schemas.microsoft.com/office/drawing/2014/main" val="10001"/>
                  </a:ext>
                </a:extLst>
              </a:tr>
              <a:tr h="374903">
                <a:tc>
                  <a:txBody>
                    <a:bodyPr/>
                    <a:lstStyle/>
                    <a:p>
                      <a:pPr algn="l"/>
                      <a:r>
                        <a:rPr sz="1400">
                          <a:solidFill>
                            <a:srgbClr val="1A1A2E"/>
                          </a:solidFill>
                        </a:rPr>
                        <a:t>Obscured or limited Street View</a:t>
                      </a:r>
                    </a:p>
                  </a:txBody>
                  <a:tcPr>
                    <a:solidFill>
                      <a:srgbClr val="E8ECF2"/>
                    </a:solidFill>
                  </a:tcPr>
                </a:tc>
                <a:tc>
                  <a:txBody>
                    <a:bodyPr/>
                    <a:lstStyle/>
                    <a:p>
                      <a:pPr algn="ctr"/>
                      <a:r>
                        <a:rPr sz="1400">
                          <a:solidFill>
                            <a:srgbClr val="1A1A2E"/>
                          </a:solidFill>
                        </a:rPr>
                        <a:t>±2–3 BER bands</a:t>
                      </a:r>
                    </a:p>
                  </a:txBody>
                  <a:tcPr>
                    <a:solidFill>
                      <a:srgbClr val="E8ECF2"/>
                    </a:solidFill>
                  </a:tcPr>
                </a:tc>
                <a:extLst>
                  <a:ext uri="{0D108BD9-81ED-4DB2-BD59-A6C34878D82A}">
                    <a16:rowId xmlns:a16="http://schemas.microsoft.com/office/drawing/2014/main" val="10002"/>
                  </a:ext>
                </a:extLst>
              </a:tr>
              <a:tr h="374903">
                <a:tc>
                  <a:txBody>
                    <a:bodyPr/>
                    <a:lstStyle/>
                    <a:p>
                      <a:pPr algn="l"/>
                      <a:r>
                        <a:rPr sz="1400">
                          <a:solidFill>
                            <a:srgbClr val="1A1A2E"/>
                          </a:solidFill>
                        </a:rPr>
                        <a:t>No Street View coverage (rural)</a:t>
                      </a:r>
                    </a:p>
                  </a:txBody>
                  <a:tcPr>
                    <a:solidFill>
                      <a:srgbClr val="FFFFFF"/>
                    </a:solidFill>
                  </a:tcPr>
                </a:tc>
                <a:tc>
                  <a:txBody>
                    <a:bodyPr/>
                    <a:lstStyle/>
                    <a:p>
                      <a:pPr algn="ctr"/>
                      <a:r>
                        <a:rPr sz="1400">
                          <a:solidFill>
                            <a:srgbClr val="1A1A2E"/>
                          </a:solidFill>
                        </a:rPr>
                        <a:t>±3–4 BER bands</a:t>
                      </a:r>
                    </a:p>
                  </a:txBody>
                  <a:tcPr>
                    <a:solidFill>
                      <a:srgbClr val="FFFFFF"/>
                    </a:solidFill>
                  </a:tcPr>
                </a:tc>
                <a:extLst>
                  <a:ext uri="{0D108BD9-81ED-4DB2-BD59-A6C34878D82A}">
                    <a16:rowId xmlns:a16="http://schemas.microsoft.com/office/drawing/2014/main" val="10003"/>
                  </a:ext>
                </a:extLst>
              </a:tr>
              <a:tr h="374907">
                <a:tc>
                  <a:txBody>
                    <a:bodyPr/>
                    <a:lstStyle/>
                    <a:p>
                      <a:pPr algn="l"/>
                      <a:r>
                        <a:rPr sz="1400">
                          <a:solidFill>
                            <a:srgbClr val="1A1A2E"/>
                          </a:solidFill>
                        </a:rPr>
                        <a:t>Apartments / multi-unit blocks</a:t>
                      </a:r>
                    </a:p>
                  </a:txBody>
                  <a:tcPr>
                    <a:solidFill>
                      <a:srgbClr val="E8ECF2"/>
                    </a:solidFill>
                  </a:tcPr>
                </a:tc>
                <a:tc>
                  <a:txBody>
                    <a:bodyPr/>
                    <a:lstStyle/>
                    <a:p>
                      <a:pPr algn="ctr"/>
                      <a:r>
                        <a:rPr sz="1400">
                          <a:solidFill>
                            <a:srgbClr val="1A1A2E"/>
                          </a:solidFill>
                        </a:rPr>
                        <a:t>Not recommended</a:t>
                      </a:r>
                    </a:p>
                  </a:txBody>
                  <a:tcPr>
                    <a:solidFill>
                      <a:srgbClr val="E8ECF2"/>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11480" y="3090672"/>
            <a:ext cx="5943600" cy="411480"/>
          </a:xfrm>
          <a:prstGeom prst="rect">
            <a:avLst/>
          </a:prstGeom>
          <a:noFill/>
        </p:spPr>
        <p:txBody>
          <a:bodyPr wrap="square">
            <a:spAutoFit/>
          </a:bodyPr>
          <a:lstStyle/>
          <a:p>
            <a:r>
              <a:rPr sz="1700" b="1" i="0">
                <a:solidFill>
                  <a:srgbClr val="1B3A6B"/>
                </a:solidFill>
              </a:rPr>
              <a:t>Screening tool — not a substitute for official EPC certification</a:t>
            </a:r>
          </a:p>
        </p:txBody>
      </p:sp>
      <p:sp>
        <p:nvSpPr>
          <p:cNvPr id="8" name="TextBox 7"/>
          <p:cNvSpPr txBox="1"/>
          <p:nvPr/>
        </p:nvSpPr>
        <p:spPr>
          <a:xfrm>
            <a:off x="457200" y="3566160"/>
            <a:ext cx="5943600" cy="2423160"/>
          </a:xfrm>
          <a:prstGeom prst="rect">
            <a:avLst/>
          </a:prstGeom>
          <a:noFill/>
        </p:spPr>
        <p:txBody>
          <a:bodyPr wrap="square">
            <a:spAutoFit/>
          </a:bodyPr>
          <a:lstStyle/>
          <a:p>
            <a:pPr>
              <a:spcBef>
                <a:spcPts val="600"/>
              </a:spcBef>
            </a:pPr>
            <a:r>
              <a:rPr sz="1700" b="0" i="0">
                <a:solidFill>
                  <a:srgbClr val="1A1A2E"/>
                </a:solidFill>
              </a:rPr>
              <a:t>•  U-values from Austrian OIB standards — broadly comparable, not Irish Part L exact</a:t>
            </a:r>
          </a:p>
          <a:p>
            <a:pPr>
              <a:spcBef>
                <a:spcPts val="600"/>
              </a:spcBef>
            </a:pPr>
            <a:r>
              <a:rPr sz="1700" b="0" i="0">
                <a:solidFill>
                  <a:srgbClr val="1A1A2E"/>
                </a:solidFill>
              </a:rPr>
              <a:t>•  Electricity CO₂ factors from 2022 — grids are decarbonising rapidly</a:t>
            </a:r>
          </a:p>
          <a:p>
            <a:pPr>
              <a:spcBef>
                <a:spcPts val="600"/>
              </a:spcBef>
            </a:pPr>
            <a:r>
              <a:rPr sz="1700" b="0" i="0">
                <a:solidFill>
                  <a:srgbClr val="1A1A2E"/>
                </a:solidFill>
              </a:rPr>
              <a:t>•  Validation vs SEAI BER database (400k+ records) — ongoing</a:t>
            </a:r>
          </a:p>
        </p:txBody>
      </p:sp>
      <p:sp>
        <p:nvSpPr>
          <p:cNvPr id="9" name="Rectangle 8"/>
          <p:cNvSpPr/>
          <p:nvPr/>
        </p:nvSpPr>
        <p:spPr>
          <a:xfrm>
            <a:off x="6537960" y="1097280"/>
            <a:ext cx="5376672" cy="475488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20840" y="1188720"/>
            <a:ext cx="5074920" cy="4480560"/>
          </a:xfrm>
          <a:prstGeom prst="rect">
            <a:avLst/>
          </a:prstGeom>
          <a:noFill/>
        </p:spPr>
        <p:txBody>
          <a:bodyPr wrap="square">
            <a:spAutoFit/>
          </a:bodyPr>
          <a:lstStyle/>
          <a:p>
            <a:r>
              <a:rPr sz="2200" b="1" i="0">
                <a:solidFill>
                  <a:srgbClr val="1B3A6B"/>
                </a:solidFill>
              </a:rPr>
              <a:t>What’s Next</a:t>
            </a:r>
          </a:p>
          <a:p>
            <a:pPr>
              <a:spcBef>
                <a:spcPts val="900"/>
              </a:spcBef>
            </a:pPr>
            <a:r>
              <a:rPr sz="1600" b="0" i="0">
                <a:solidFill>
                  <a:srgbClr val="1A1A2E"/>
                </a:solidFill>
              </a:rPr>
              <a:t>→  Validation against SEAI BER database</a:t>
            </a:r>
          </a:p>
          <a:p>
            <a:pPr>
              <a:spcBef>
                <a:spcPts val="900"/>
              </a:spcBef>
            </a:pPr>
            <a:r>
              <a:rPr sz="1600" b="0" i="0">
                <a:solidFill>
                  <a:srgbClr val="1A1A2E"/>
                </a:solidFill>
              </a:rPr>
              <a:t>→  Batch processing for estate-level assessment</a:t>
            </a:r>
          </a:p>
          <a:p>
            <a:pPr>
              <a:spcBef>
                <a:spcPts val="900"/>
              </a:spcBef>
            </a:pPr>
            <a:r>
              <a:rPr sz="1600" b="0" i="0">
                <a:solidFill>
                  <a:srgbClr val="1A1A2E"/>
                </a:solidFill>
              </a:rPr>
              <a:t>→  Regional climate data (county-level HDD for Ireland)</a:t>
            </a:r>
          </a:p>
          <a:p>
            <a:pPr>
              <a:spcBef>
                <a:spcPts val="900"/>
              </a:spcBef>
            </a:pPr>
            <a:r>
              <a:rPr sz="1600" b="0" i="0">
                <a:solidFill>
                  <a:srgbClr val="1A1A2E"/>
                </a:solidFill>
              </a:rPr>
              <a:t>→  DEAP method mode (official Irish methodology)</a:t>
            </a:r>
          </a:p>
          <a:p>
            <a:pPr>
              <a:spcBef>
                <a:spcPts val="900"/>
              </a:spcBef>
            </a:pPr>
            <a:r>
              <a:rPr sz="1600" b="0" i="0">
                <a:solidFill>
                  <a:srgbClr val="1A1A2E"/>
                </a:solidFill>
              </a:rPr>
              <a:t>→  PDF BER-style report generation</a:t>
            </a:r>
          </a:p>
          <a:p>
            <a:pPr>
              <a:spcBef>
                <a:spcPts val="1800"/>
              </a:spcBef>
            </a:pPr>
            <a:r>
              <a:rPr sz="1800" b="1" i="0">
                <a:solidFill>
                  <a:srgbClr val="1B3A6B"/>
                </a:solidFill>
              </a:rPr>
              <a:t>Open to collaboration:</a:t>
            </a:r>
          </a:p>
          <a:p>
            <a:pPr>
              <a:spcBef>
                <a:spcPts val="600"/>
              </a:spcBef>
            </a:pPr>
            <a:r>
              <a:rPr sz="1600" b="0" i="0">
                <a:solidFill>
                  <a:srgbClr val="1A1A2E"/>
                </a:solidFill>
              </a:rPr>
              <a:t>•  CIRCUS Interreg NWE partners</a:t>
            </a:r>
          </a:p>
          <a:p>
            <a:pPr>
              <a:spcBef>
                <a:spcPts val="600"/>
              </a:spcBef>
            </a:pPr>
            <a:r>
              <a:rPr sz="1600" b="0" i="0">
                <a:solidFill>
                  <a:srgbClr val="1A1A2E"/>
                </a:solidFill>
              </a:rPr>
              <a:t>•  SEAI &amp; local authorities</a:t>
            </a:r>
          </a:p>
          <a:p>
            <a:pPr>
              <a:spcBef>
                <a:spcPts val="600"/>
              </a:spcBef>
            </a:pPr>
            <a:r>
              <a:rPr sz="1600" b="0" i="0">
                <a:solidFill>
                  <a:srgbClr val="1A1A2E"/>
                </a:solidFill>
              </a:rPr>
              <a:t>•  Environ researchers</a:t>
            </a:r>
          </a:p>
        </p:txBody>
      </p:sp>
      <p:sp>
        <p:nvSpPr>
          <p:cNvPr id="11" name="TextBox 10"/>
          <p:cNvSpPr txBox="1"/>
          <p:nvPr/>
        </p:nvSpPr>
        <p:spPr>
          <a:xfrm>
            <a:off x="411480" y="5440680"/>
            <a:ext cx="5943600" cy="777240"/>
          </a:xfrm>
          <a:prstGeom prst="rect">
            <a:avLst/>
          </a:prstGeom>
          <a:noFill/>
        </p:spPr>
        <p:txBody>
          <a:bodyPr wrap="square">
            <a:spAutoFit/>
          </a:bodyPr>
          <a:lstStyle/>
          <a:p>
            <a:r>
              <a:rPr sz="2200" b="1" i="0">
                <a:solidFill>
                  <a:srgbClr val="1B3A6B"/>
                </a:solidFill>
              </a:rPr>
              <a:t>Thank you  —  Questions welcome</a:t>
            </a:r>
          </a:p>
        </p:txBody>
      </p:sp>
      <p:pic>
        <p:nvPicPr>
          <p:cNvPr id="12" name="Picture 11" descr="circus_logo-presentation.png"/>
          <p:cNvPicPr>
            <a:picLocks noChangeAspect="1"/>
          </p:cNvPicPr>
          <p:nvPr/>
        </p:nvPicPr>
        <p:blipFill>
          <a:blip r:embed="rId3"/>
          <a:stretch>
            <a:fillRect/>
          </a:stretch>
        </p:blipFill>
        <p:spPr>
          <a:xfrm>
            <a:off x="10381183" y="5985856"/>
            <a:ext cx="1645920" cy="7624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3740</Words>
  <Application>Microsoft Office PowerPoint</Application>
  <PresentationFormat>Widescreen</PresentationFormat>
  <Paragraphs>245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Avinash Nagarajan</cp:lastModifiedBy>
  <cp:revision>2</cp:revision>
  <dcterms:created xsi:type="dcterms:W3CDTF">2013-01-27T09:14:16Z</dcterms:created>
  <dcterms:modified xsi:type="dcterms:W3CDTF">2026-04-24T08:45:56Z</dcterms:modified>
  <cp:category/>
</cp:coreProperties>
</file>