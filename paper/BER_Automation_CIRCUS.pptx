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67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9601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C6"/>
                </a:solidFill>
              </a:rPr>
              <a:t>CIRCUS PROJECT — TOOL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Building Energy Rating
Automation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974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</a:rPr>
              <a:t>From postcode to energy rating — in under 30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291840"/>
            <a:ext cx="2560320" cy="914400"/>
          </a:xfrm>
          <a:prstGeom prst="rect">
            <a:avLst/>
          </a:prstGeom>
          <a:solidFill>
            <a:srgbClr val="4A1010"/>
          </a:solidFill>
          <a:ln w="6350">
            <a:solidFill>
              <a:srgbClr val="6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35040" y="3291840"/>
            <a:ext cx="2560320" cy="914400"/>
          </a:xfrm>
          <a:prstGeom prst="rect">
            <a:avLst/>
          </a:prstGeom>
          <a:solidFill>
            <a:srgbClr val="0A3018"/>
          </a:solidFill>
          <a:ln w="6350">
            <a:solidFill>
              <a:srgbClr val="105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33467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7171"/>
                </a:solidFill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84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7EB"/>
                </a:solidFill>
              </a:rPr>
              <a:t>5 manual steps
10 min per building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C6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3467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EE7B7"/>
                </a:solidFill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584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7EB"/>
                </a:solidFill>
              </a:rPr>
              <a:t>1 postcode
&lt;30 s automated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4348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C6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919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CIRCUS countries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348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C6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919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Manual steps (IE)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4348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C6"/>
                </a:solidFill>
              </a:rPr>
              <a:t>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919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Tests passing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8" y="657453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BER Automation Tool · CIRCUS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7453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Avinash Nagarajan · MTU ·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118872"/>
            <a:ext cx="475488" cy="420624"/>
          </a:xfrm>
          <a:prstGeom prst="rect">
            <a:avLst/>
          </a:prstGeom>
          <a:solidFill>
            <a:srgbClr val="00B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The Old Way — Five Manual Steps Per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" y="6574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74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Slide 2 of 5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777240"/>
            <a:ext cx="2176272" cy="132588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" y="80467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/>
              <a:t>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170432"/>
            <a:ext cx="2176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</a:rPr>
              <a:t>Open Google 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1481328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Find the address manually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5144" y="11430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777240"/>
            <a:ext cx="2176272" cy="132588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87168" y="80467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/>
              <a:t>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1170432"/>
            <a:ext cx="2176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</a:rPr>
              <a:t>Measure footprint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1481328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Click-drag ruler on satellite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1430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9744" y="777240"/>
            <a:ext cx="2176272" cy="132588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9744" y="80467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/>
              <a:t>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1170432"/>
            <a:ext cx="2176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</a:rPr>
              <a:t>Street View survey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9744" y="1481328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Guess era, type, storeys, heating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11430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777240"/>
            <a:ext cx="2176272" cy="132588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80467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/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170432"/>
            <a:ext cx="2176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</a:rPr>
              <a:t>Enter Excel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1481328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Type all values into spreadsheet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11430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54896" y="777240"/>
            <a:ext cx="2176272" cy="132588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54896" y="80467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/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1170432"/>
            <a:ext cx="2176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</a:rPr>
              <a:t>Read the 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6" y="1481328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Copy result from output cell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2212848"/>
            <a:ext cx="11859768" cy="347472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4592" y="2221992"/>
            <a:ext cx="1185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</a:rPr>
              <a:t>⏱   5–10 minutes per building · 200 buildings = up to 33 hours of manual 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2" y="2670048"/>
            <a:ext cx="3657600" cy="1005840"/>
          </a:xfrm>
          <a:prstGeom prst="rect">
            <a:avLst/>
          </a:prstGeom>
          <a:solidFill>
            <a:srgbClr val="FFFBEB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27066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E"/>
                </a:solidFill>
              </a:rPr>
              <a:t>⚠  Inconsistency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299923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Two assessors, same Street View,
different era estimates — every time.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59" y="2670048"/>
            <a:ext cx="3657600" cy="1005840"/>
          </a:xfrm>
          <a:prstGeom prst="rect">
            <a:avLst/>
          </a:prstGeom>
          <a:solidFill>
            <a:srgbClr val="FFFBEB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33087" y="27066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E"/>
                </a:solidFill>
              </a:rPr>
              <a:t>⚠  Single viewpoint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33087" y="299923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Oil tanks, heat pumps, shared walls
— invisible from one Street View angle.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2670048"/>
            <a:ext cx="3657600" cy="1005840"/>
          </a:xfrm>
          <a:prstGeom prst="rect">
            <a:avLst/>
          </a:prstGeom>
          <a:solidFill>
            <a:srgbClr val="FFFBEB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91855" y="27066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E"/>
                </a:solidFill>
              </a:rPr>
              <a:t>⚠  No scale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1855" y="299923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The CIRCUS project needs thousands
of assessments across 5 countries.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118872"/>
            <a:ext cx="475488" cy="420624"/>
          </a:xfrm>
          <a:prstGeom prst="rect">
            <a:avLst/>
          </a:prstGeom>
          <a:solidFill>
            <a:srgbClr val="00B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Old Way vs New Way — What Changed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" y="6574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Before vs 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74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Slide 3 of 5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713232"/>
            <a:ext cx="5852160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" y="73152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BEFORE — Excel Manual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713232"/>
            <a:ext cx="585216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0488" y="73152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AFTER — BER Automation 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1170432"/>
            <a:ext cx="5852160" cy="859536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" y="1243584"/>
            <a:ext cx="5614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</a:rPr>
              <a:t>Step 1 — Find address on Google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1572768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Open browser, search address, navigate to property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1170432"/>
            <a:ext cx="5852160" cy="859536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243584"/>
            <a:ext cx="5614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</a:rPr>
              <a:t>Step 1 — Enter postcode, click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572768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Eircode geocoded automatically via Google Maps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2084832"/>
            <a:ext cx="5852160" cy="859536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2157984"/>
            <a:ext cx="5614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</a:rPr>
              <a:t>Step 2 — Measure footprint manually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2487168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Use satellite ruler, click around roof edge, note L × 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0488" y="2084832"/>
            <a:ext cx="5852160" cy="859536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2157984"/>
            <a:ext cx="5614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</a:rPr>
              <a:t>Step 2 — Satellite footprint extracted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487168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OpenCV + Claude Vision — two independent methods, reconciled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2999232"/>
            <a:ext cx="5852160" cy="859536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3072384"/>
            <a:ext cx="5614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</a:rPr>
              <a:t>Step 3 — Street View survey (one angle)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3401568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Visually estimate era, building type, storeys, heating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0488" y="2999232"/>
            <a:ext cx="5852160" cy="859536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3072384"/>
            <a:ext cx="5614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</a:rPr>
              <a:t>Step 3 — AI surveys 4 angles simultaneously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401568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Front · Right · Rear · Left → Claude cross-references in 1 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" y="3913632"/>
            <a:ext cx="5852160" cy="859536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6032" y="3986784"/>
            <a:ext cx="5614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</a:rPr>
              <a:t>Step 4 — Type parameters into Excel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" y="4315968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Switch to spreadsheet, enter all values, risk transcription errors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0488" y="3913632"/>
            <a:ext cx="5852160" cy="859536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3986784"/>
            <a:ext cx="5614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</a:rPr>
              <a:t>Step 4 — HWB calculation runs automatically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15968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All parameters populated from pipeline — no manual data entry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" y="4828032"/>
            <a:ext cx="5852160" cy="859536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6032" y="4901184"/>
            <a:ext cx="5614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</a:rPr>
              <a:t>Step 5 — Read BER band from output cell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" y="5230368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Copy result. No CO₂, no heat loss breakdown, no retrofit model.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4828032"/>
            <a:ext cx="5852160" cy="859536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4901184"/>
            <a:ext cx="5614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</a:rPr>
              <a:t>Step 5 — Full result displayed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230368"/>
            <a:ext cx="5614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BER band · kWh/m²/yr · CO₂ · heat loss breakdown · retrofit model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5742432"/>
            <a:ext cx="5852160" cy="658368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7160" y="577900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5–10 min · 1 building · 1 assessor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" y="605332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</a:rPr>
              <a:t>No consistency · single angle · Ireland only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0488" y="5742432"/>
            <a:ext cx="5852160" cy="65836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90488" y="577900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&lt;30 s · any address · fully repeatable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0488" y="605332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E7B7"/>
                </a:solidFill>
              </a:rPr>
              <a:t>Consistent AI · 4 angles · 5 CIRCUS countries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118872"/>
            <a:ext cx="475488" cy="420624"/>
          </a:xfrm>
          <a:prstGeom prst="rect">
            <a:avLst/>
          </a:prstGeom>
          <a:solidFill>
            <a:srgbClr val="00B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What the New Tool Adds Over the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" y="6574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What's 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74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Slide 4 of 5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749808"/>
            <a:ext cx="3749039" cy="188366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4592" y="749808"/>
            <a:ext cx="3749039" cy="6400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" y="84124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/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207007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</a:rPr>
              <a:t>4-Angle AI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1517904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</a:rPr>
              <a:t>The Excel relied on a human guessing from one Street View angle. The tool sends Front, Right, Rear, and Left views to Claude in a single request — spotting oil tanks in the back garden, heat pump units on the side, and shared party walls.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322576"/>
            <a:ext cx="3566159" cy="256032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" y="2340864"/>
            <a:ext cx="35204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40AF"/>
                </a:solidFill>
              </a:rPr>
              <a:t>Excel: 1 angle, manual guess  →  Tool: 4 angles, AI classified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9663" y="749808"/>
            <a:ext cx="3749039" cy="1883664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9663" y="749808"/>
            <a:ext cx="3749039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84124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/>
              <a:t>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1207007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Automatic Footprint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1517904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</a:rPr>
              <a:t>No more clicking around a rooftop with the Google Maps ruler. Two independent automated methods — OpenCV computer vision and Claude Vision — run and reconcile. Terrace correction divides shared row dimensions by unit count.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1103" y="2322576"/>
            <a:ext cx="3566159" cy="256032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79" y="2340864"/>
            <a:ext cx="35204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5F46"/>
                </a:solidFill>
              </a:rPr>
              <a:t>Excel: manual clicks  →  Tool: OpenCV + Claude, reconciled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749808"/>
            <a:ext cx="3749039" cy="1883664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749808"/>
            <a:ext cx="3749039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02752" y="84124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/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1207007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21A8"/>
                </a:solidFill>
              </a:rPr>
              <a:t>Retrofit Modelling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1517904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</a:rPr>
              <a:t>The Excel produced a single BER band for the current state. The tool adds a full what-if retrofit analysis — wall insulation, roof insulation, window replacement, heating system upgrade — and shows before/after in one click.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5" y="2322576"/>
            <a:ext cx="3566159" cy="256032"/>
          </a:xfrm>
          <a:prstGeom prst="rect">
            <a:avLst/>
          </a:prstGeom>
          <a:solidFill>
            <a:srgbClr val="E9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2752" y="2340864"/>
            <a:ext cx="35204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21A8"/>
                </a:solidFill>
              </a:rPr>
              <a:t>Excel: current state only  →  Tool: before + after retrofit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2798064"/>
            <a:ext cx="3749039" cy="1883664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64592" y="2798064"/>
            <a:ext cx="3749039" cy="64008"/>
          </a:xfrm>
          <a:prstGeom prst="rect">
            <a:avLst/>
          </a:prstGeom>
          <a:solidFill>
            <a:srgbClr val="F4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8" y="288950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/>
              <a:t>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3255264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E"/>
                </a:solidFill>
              </a:rPr>
              <a:t>5-Country Climate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" y="3566160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1F2A37"/>
                </a:solidFill>
              </a:rPr>
              <a:t>All five CIRCUS partner countries have their own HDD, solar irradiance, and heating days baked in. Germany and Ireland produce near-identical results (HDD 2,157 vs 2,149). France is noticeably milder at 1,462 HDD.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4370832"/>
            <a:ext cx="3566159" cy="256032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8" y="4389120"/>
            <a:ext cx="35204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2400E"/>
                </a:solidFill>
              </a:rPr>
              <a:t>Excel: manual selection  →  Tool: auto from geocoder (IE) or dropdown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9663" y="2798064"/>
            <a:ext cx="3749039" cy="1883664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69663" y="2798064"/>
            <a:ext cx="3749039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97679" y="288950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/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79" y="3255264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</a:rPr>
              <a:t>Full Energy Profile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79" y="3566160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</a:rPr>
              <a:t>The Excel output was a BER band and a kWh/m² number. The tool adds annual CO₂ emissions, full heat loss breakdown (transmission vs ventilation vs solar gains), and an interactive BER scale with the property's band highlighted.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61103" y="4370832"/>
            <a:ext cx="3566159" cy="256032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97679" y="4389120"/>
            <a:ext cx="35204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91C1C"/>
                </a:solidFill>
              </a:rPr>
              <a:t>Excel: BER band + kWh/m²  →  Tool: band + CO₂ + breakdown + retrofit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74736" y="2798064"/>
            <a:ext cx="3749039" cy="18836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174736" y="2798064"/>
            <a:ext cx="3749039" cy="6400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02752" y="288950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/>
              <a:t>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3255264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Confidence-Gated Fallbacks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02752" y="3566160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</a:rPr>
              <a:t>When Claude can't see the building clearly — hedge in the way, no Street View coverage — it reports confidence below 0.4 and the pipeline uses safe defaults. The Excel had no such safety net; a wrong guess went straight through.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66175" y="4370832"/>
            <a:ext cx="3566159" cy="256032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02752" y="4389120"/>
            <a:ext cx="3566159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E293B"/>
                </a:solidFill>
              </a:rPr>
              <a:t>Excel: wrong guess → wrong result  →  Tool: low confidence → defaults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118872"/>
            <a:ext cx="475488" cy="420624"/>
          </a:xfrm>
          <a:prstGeom prst="rect">
            <a:avLst/>
          </a:prstGeom>
          <a:solidFill>
            <a:srgbClr val="00B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The What-If Engine — Engaging Communities as Energy Citizens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" y="6574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Community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745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Slide 5 of 5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777240"/>
            <a:ext cx="3474720" cy="233172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" y="85039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91C1C"/>
                </a:solidFill>
              </a:rPr>
              <a:t>BEFORE RETROFIT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61288"/>
            <a:ext cx="914400" cy="822960"/>
          </a:xfrm>
          <a:prstGeom prst="rect">
            <a:avLst/>
          </a:prstGeom>
          <a:solidFill>
            <a:srgbClr val="E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" y="1252728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" y="17830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11978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</a:rPr>
              <a:t>286 kWh/m²/yr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14721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4,100 kg CO₂/yr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17099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Pre-1980 · oil boiler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19476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Solid walls · single glaze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2496312"/>
            <a:ext cx="3218687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" y="2514600"/>
            <a:ext cx="321868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</a:rPr>
              <a:t>≈ €2,400/yr heating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2697480"/>
            <a:ext cx="321868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</a:rPr>
              <a:t>Among worst 20% of Irish 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16459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777240"/>
            <a:ext cx="2651760" cy="2331720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85039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21A8"/>
                </a:solidFill>
              </a:rPr>
              <a:t>MEASURES APPLIED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11978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🧱  12 cm wall insulation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154533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🏠  20 cm roof insulation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18928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🪟  New windows  U=1.0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240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♨️  Air-source heat pump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5877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     (replaces oil boiler)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777240"/>
            <a:ext cx="3474720" cy="233172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645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85039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5F46"/>
                </a:solidFill>
              </a:rPr>
              <a:t>AFTER RETROFIT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68312" y="1161288"/>
            <a:ext cx="9144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68312" y="1252728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17830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11978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</a:rPr>
              <a:t>118 kWh/m²/yr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14721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1,200 kg CO₂/yr  (−71%)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17099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5-band improvement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19476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Energy use halved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31736" y="2496312"/>
            <a:ext cx="3218687" cy="3657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31736" y="2514600"/>
            <a:ext cx="321868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F46"/>
                </a:solidFill>
              </a:rPr>
              <a:t>≈ €1,500/yr saved on bills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1736" y="2697480"/>
            <a:ext cx="321868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5F46"/>
                </a:solidFill>
              </a:rPr>
              <a:t>Carbon footprint cut by two-thirds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3273552"/>
            <a:ext cx="3749039" cy="30906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64592" y="3273552"/>
            <a:ext cx="3749039" cy="6400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2608" y="34015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/>
              <a:t>🏘️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" y="3822191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</a:rPr>
              <a:t>From Data to Decision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" y="4187952"/>
            <a:ext cx="3520439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A BER band alone is abstract. The what-if model converts it into a concrete question residents understand: "What would it take to halve my heating bill?" The tool answers that for any specific home — without an assessor visit.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5384" y="3273552"/>
            <a:ext cx="3749039" cy="309067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15384" y="3273552"/>
            <a:ext cx="3749039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43400" y="34015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/>
              <a:t>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3822191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F46"/>
                </a:solidFill>
              </a:rPr>
              <a:t>Enabling Energy Citizens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4187952"/>
            <a:ext cx="3520439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Energy citizenship requires informed participation. When communities can see their own street — every house rated and modelled — they can identify vulnerable neighbours, plan area-wide retrofit schemes, and present evidence to local authorities.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66175" y="3273552"/>
            <a:ext cx="3749039" cy="309067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266175" y="3273552"/>
            <a:ext cx="3749039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94192" y="34015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/>
              <a:t>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94192" y="3822191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21A8"/>
                </a:solidFill>
              </a:rPr>
              <a:t>CIRCUS Scale: Estate-Level Screening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4192" y="4187952"/>
            <a:ext cx="3520439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</a:rPr>
              <a:t>Running the what-if model on every house in a 200-home estate takes minutes. The output tells planners which interventions deliver the biggest gain per euro — wall insulation or heating upgrades, and in what 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1093</Words>
  <Application>Microsoft Office PowerPoint</Application>
  <PresentationFormat>Custom</PresentationFormat>
  <Paragraphs>143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Avinash Nagarajan</cp:lastModifiedBy>
  <cp:revision>2</cp:revision>
  <dcterms:created xsi:type="dcterms:W3CDTF">2013-01-27T09:14:16Z</dcterms:created>
  <dcterms:modified xsi:type="dcterms:W3CDTF">2026-03-27T01:03:50Z</dcterms:modified>
  <cp:category/>
</cp:coreProperties>
</file>